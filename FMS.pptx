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0"/>
  </p:notesMasterIdLst>
  <p:sldIdLst>
    <p:sldId id="257" r:id="rId2"/>
    <p:sldId id="323" r:id="rId3"/>
    <p:sldId id="324" r:id="rId4"/>
    <p:sldId id="300" r:id="rId5"/>
    <p:sldId id="344" r:id="rId6"/>
    <p:sldId id="301" r:id="rId7"/>
    <p:sldId id="297" r:id="rId8"/>
    <p:sldId id="349" r:id="rId9"/>
    <p:sldId id="345" r:id="rId10"/>
    <p:sldId id="350" r:id="rId11"/>
    <p:sldId id="346" r:id="rId12"/>
    <p:sldId id="347" r:id="rId13"/>
    <p:sldId id="348" r:id="rId14"/>
    <p:sldId id="317" r:id="rId15"/>
    <p:sldId id="309" r:id="rId16"/>
    <p:sldId id="352" r:id="rId17"/>
    <p:sldId id="310" r:id="rId18"/>
    <p:sldId id="31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164A"/>
    <a:srgbClr val="156082"/>
    <a:srgbClr val="13501B"/>
    <a:srgbClr val="7030A0"/>
    <a:srgbClr val="002D60"/>
    <a:srgbClr val="0B3547"/>
    <a:srgbClr val="0A293A"/>
    <a:srgbClr val="0A3041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04" autoAdjust="0"/>
    <p:restoredTop sz="86780" autoAdjust="0"/>
  </p:normalViewPr>
  <p:slideViewPr>
    <p:cSldViewPr snapToGrid="0">
      <p:cViewPr>
        <p:scale>
          <a:sx n="100" d="100"/>
          <a:sy n="100" d="100"/>
        </p:scale>
        <p:origin x="624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BFB547-3953-4118-9E57-E26523AC44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8870EB-50CF-4ECF-8D91-692B0142B629}">
      <dgm:prSet/>
      <dgm:spPr/>
      <dgm:t>
        <a:bodyPr/>
        <a:lstStyle/>
        <a:p>
          <a:r>
            <a:rPr lang="en-US" b="1"/>
            <a:t>Frontend</a:t>
          </a:r>
          <a:endParaRPr lang="en-US"/>
        </a:p>
      </dgm:t>
    </dgm:pt>
    <dgm:pt modelId="{64AFD3B4-A191-4E01-B663-FE5F0319E465}" type="parTrans" cxnId="{834D6110-B0DF-4CA8-9E3A-676B30736FE4}">
      <dgm:prSet/>
      <dgm:spPr/>
      <dgm:t>
        <a:bodyPr/>
        <a:lstStyle/>
        <a:p>
          <a:endParaRPr lang="en-US"/>
        </a:p>
      </dgm:t>
    </dgm:pt>
    <dgm:pt modelId="{82B3691A-8DF7-48CC-B894-97F7D34BED45}" type="sibTrans" cxnId="{834D6110-B0DF-4CA8-9E3A-676B30736FE4}">
      <dgm:prSet/>
      <dgm:spPr/>
      <dgm:t>
        <a:bodyPr/>
        <a:lstStyle/>
        <a:p>
          <a:endParaRPr lang="en-US"/>
        </a:p>
      </dgm:t>
    </dgm:pt>
    <dgm:pt modelId="{A59DBAE5-58B9-4EB3-BAC6-15F8BA0EADB6}">
      <dgm:prSet/>
      <dgm:spPr/>
      <dgm:t>
        <a:bodyPr/>
        <a:lstStyle/>
        <a:p>
          <a:r>
            <a:rPr lang="en-US" i="1"/>
            <a:t>React 18, Vite, Tailwind CSS for responsive UI and fast development</a:t>
          </a:r>
          <a:endParaRPr lang="en-US"/>
        </a:p>
      </dgm:t>
    </dgm:pt>
    <dgm:pt modelId="{5B9F1157-F0B8-40CC-A7AA-68CEB38CCD38}" type="parTrans" cxnId="{863E2A23-C52E-4238-9E9A-745E29B15598}">
      <dgm:prSet/>
      <dgm:spPr/>
      <dgm:t>
        <a:bodyPr/>
        <a:lstStyle/>
        <a:p>
          <a:endParaRPr lang="en-US"/>
        </a:p>
      </dgm:t>
    </dgm:pt>
    <dgm:pt modelId="{12B09F16-5CF0-42B8-BC29-2C7145D5AFBB}" type="sibTrans" cxnId="{863E2A23-C52E-4238-9E9A-745E29B15598}">
      <dgm:prSet/>
      <dgm:spPr/>
      <dgm:t>
        <a:bodyPr/>
        <a:lstStyle/>
        <a:p>
          <a:endParaRPr lang="en-US"/>
        </a:p>
      </dgm:t>
    </dgm:pt>
    <dgm:pt modelId="{47066D33-17AD-499A-806B-4CD2C07C9EF5}">
      <dgm:prSet/>
      <dgm:spPr/>
      <dgm:t>
        <a:bodyPr/>
        <a:lstStyle/>
        <a:p>
          <a:r>
            <a:rPr lang="en-US" b="1"/>
            <a:t>Backend</a:t>
          </a:r>
          <a:endParaRPr lang="en-US"/>
        </a:p>
      </dgm:t>
    </dgm:pt>
    <dgm:pt modelId="{ED989C17-E23A-4F9A-B4AD-1D640FCDC909}" type="parTrans" cxnId="{E960AA7A-1B2C-4112-9BCA-51B9F244834F}">
      <dgm:prSet/>
      <dgm:spPr/>
      <dgm:t>
        <a:bodyPr/>
        <a:lstStyle/>
        <a:p>
          <a:endParaRPr lang="en-US"/>
        </a:p>
      </dgm:t>
    </dgm:pt>
    <dgm:pt modelId="{9B68F8D7-D40B-472F-8467-E735167D2F04}" type="sibTrans" cxnId="{E960AA7A-1B2C-4112-9BCA-51B9F244834F}">
      <dgm:prSet/>
      <dgm:spPr/>
      <dgm:t>
        <a:bodyPr/>
        <a:lstStyle/>
        <a:p>
          <a:endParaRPr lang="en-US"/>
        </a:p>
      </dgm:t>
    </dgm:pt>
    <dgm:pt modelId="{0BCB324B-DFC6-4181-B1BE-3CE96A537302}">
      <dgm:prSet/>
      <dgm:spPr/>
      <dgm:t>
        <a:bodyPr/>
        <a:lstStyle/>
        <a:p>
          <a:r>
            <a:rPr lang="en-US" i="1"/>
            <a:t>Java 17, Spring Boot 3 for REST APIs and business logic</a:t>
          </a:r>
          <a:endParaRPr lang="en-US"/>
        </a:p>
      </dgm:t>
    </dgm:pt>
    <dgm:pt modelId="{8293F4A1-F0D0-4447-804F-EA9799B0A370}" type="parTrans" cxnId="{0AC14884-C3E0-4E54-BACD-6D4B78D9B3EF}">
      <dgm:prSet/>
      <dgm:spPr/>
      <dgm:t>
        <a:bodyPr/>
        <a:lstStyle/>
        <a:p>
          <a:endParaRPr lang="en-US"/>
        </a:p>
      </dgm:t>
    </dgm:pt>
    <dgm:pt modelId="{ACF0EBB0-4118-4DE3-9AF8-207512FB110D}" type="sibTrans" cxnId="{0AC14884-C3E0-4E54-BACD-6D4B78D9B3EF}">
      <dgm:prSet/>
      <dgm:spPr/>
      <dgm:t>
        <a:bodyPr/>
        <a:lstStyle/>
        <a:p>
          <a:endParaRPr lang="en-US"/>
        </a:p>
      </dgm:t>
    </dgm:pt>
    <dgm:pt modelId="{0189432E-3FFA-4F0D-96A2-9A73E4C1E224}">
      <dgm:prSet/>
      <dgm:spPr/>
      <dgm:t>
        <a:bodyPr/>
        <a:lstStyle/>
        <a:p>
          <a:r>
            <a:rPr lang="en-US" b="1"/>
            <a:t>Database</a:t>
          </a:r>
          <a:endParaRPr lang="en-US"/>
        </a:p>
      </dgm:t>
    </dgm:pt>
    <dgm:pt modelId="{0B9B2238-57B3-4487-A8E9-AD769AF0FF88}" type="parTrans" cxnId="{AE153C2F-E54D-4C56-AA48-447B5CEE6BF8}">
      <dgm:prSet/>
      <dgm:spPr/>
      <dgm:t>
        <a:bodyPr/>
        <a:lstStyle/>
        <a:p>
          <a:endParaRPr lang="en-US"/>
        </a:p>
      </dgm:t>
    </dgm:pt>
    <dgm:pt modelId="{0DF64A9F-F491-4BE0-9EDC-F292AD1F8307}" type="sibTrans" cxnId="{AE153C2F-E54D-4C56-AA48-447B5CEE6BF8}">
      <dgm:prSet/>
      <dgm:spPr/>
      <dgm:t>
        <a:bodyPr/>
        <a:lstStyle/>
        <a:p>
          <a:endParaRPr lang="en-US"/>
        </a:p>
      </dgm:t>
    </dgm:pt>
    <dgm:pt modelId="{354CD527-7B39-4074-A8BD-9A0F4A075B70}">
      <dgm:prSet/>
      <dgm:spPr/>
      <dgm:t>
        <a:bodyPr/>
        <a:lstStyle/>
        <a:p>
          <a:r>
            <a:rPr lang="en-US" i="1"/>
            <a:t>PostgreSQL for secure and scalable data storage</a:t>
          </a:r>
          <a:endParaRPr lang="en-US"/>
        </a:p>
      </dgm:t>
    </dgm:pt>
    <dgm:pt modelId="{CE7E1135-9958-4D5B-A802-41740C5463D2}" type="parTrans" cxnId="{8A6A8F8F-7A93-48C7-812B-A37B7F9C4843}">
      <dgm:prSet/>
      <dgm:spPr/>
      <dgm:t>
        <a:bodyPr/>
        <a:lstStyle/>
        <a:p>
          <a:endParaRPr lang="en-US"/>
        </a:p>
      </dgm:t>
    </dgm:pt>
    <dgm:pt modelId="{0A156832-1105-4F4B-A456-47CED6008046}" type="sibTrans" cxnId="{8A6A8F8F-7A93-48C7-812B-A37B7F9C4843}">
      <dgm:prSet/>
      <dgm:spPr/>
      <dgm:t>
        <a:bodyPr/>
        <a:lstStyle/>
        <a:p>
          <a:endParaRPr lang="en-US"/>
        </a:p>
      </dgm:t>
    </dgm:pt>
    <dgm:pt modelId="{BFD5CC2B-2DE7-460A-A599-C0EB4CCF52AC}">
      <dgm:prSet/>
      <dgm:spPr/>
      <dgm:t>
        <a:bodyPr/>
        <a:lstStyle/>
        <a:p>
          <a:r>
            <a:rPr lang="en-US" b="1"/>
            <a:t>Authentication</a:t>
          </a:r>
          <a:endParaRPr lang="en-US"/>
        </a:p>
      </dgm:t>
    </dgm:pt>
    <dgm:pt modelId="{26D4144E-5E98-411B-BCBB-F1BEF90B9A1B}" type="parTrans" cxnId="{014F8C12-C047-406F-988B-1561A50329C2}">
      <dgm:prSet/>
      <dgm:spPr/>
      <dgm:t>
        <a:bodyPr/>
        <a:lstStyle/>
        <a:p>
          <a:endParaRPr lang="en-US"/>
        </a:p>
      </dgm:t>
    </dgm:pt>
    <dgm:pt modelId="{487F4CCF-4F45-427C-835F-0CF0E386D57C}" type="sibTrans" cxnId="{014F8C12-C047-406F-988B-1561A50329C2}">
      <dgm:prSet/>
      <dgm:spPr/>
      <dgm:t>
        <a:bodyPr/>
        <a:lstStyle/>
        <a:p>
          <a:endParaRPr lang="en-US"/>
        </a:p>
      </dgm:t>
    </dgm:pt>
    <dgm:pt modelId="{AC3468C7-BBCB-4EF2-A355-801EBE0FDA44}">
      <dgm:prSet/>
      <dgm:spPr/>
      <dgm:t>
        <a:bodyPr/>
        <a:lstStyle/>
        <a:p>
          <a:r>
            <a:rPr lang="en-US" i="1"/>
            <a:t>JWT (stateless) + Spring Security for secure user access</a:t>
          </a:r>
          <a:endParaRPr lang="en-US"/>
        </a:p>
      </dgm:t>
    </dgm:pt>
    <dgm:pt modelId="{357EC413-2C44-4037-9FA9-BFB9920B995E}" type="parTrans" cxnId="{CB920F89-F58F-430C-B709-A773FFE1B366}">
      <dgm:prSet/>
      <dgm:spPr/>
      <dgm:t>
        <a:bodyPr/>
        <a:lstStyle/>
        <a:p>
          <a:endParaRPr lang="en-US"/>
        </a:p>
      </dgm:t>
    </dgm:pt>
    <dgm:pt modelId="{52D8AE0C-0842-4476-BC97-68015F50B07F}" type="sibTrans" cxnId="{CB920F89-F58F-430C-B709-A773FFE1B366}">
      <dgm:prSet/>
      <dgm:spPr/>
      <dgm:t>
        <a:bodyPr/>
        <a:lstStyle/>
        <a:p>
          <a:endParaRPr lang="en-US"/>
        </a:p>
      </dgm:t>
    </dgm:pt>
    <dgm:pt modelId="{BA8CD6F2-58D0-4AE2-B050-5617FA44EAEE}">
      <dgm:prSet/>
      <dgm:spPr/>
      <dgm:t>
        <a:bodyPr/>
        <a:lstStyle/>
        <a:p>
          <a:r>
            <a:rPr lang="en-US" b="1" dirty="0"/>
            <a:t>API Communication</a:t>
          </a:r>
          <a:endParaRPr lang="en-US" dirty="0"/>
        </a:p>
      </dgm:t>
    </dgm:pt>
    <dgm:pt modelId="{38FC7C49-B152-4A6D-ADC3-A376A5EBA786}" type="parTrans" cxnId="{9F31955C-EB5F-4674-8AE7-1303EDE2452D}">
      <dgm:prSet/>
      <dgm:spPr/>
      <dgm:t>
        <a:bodyPr/>
        <a:lstStyle/>
        <a:p>
          <a:endParaRPr lang="en-US"/>
        </a:p>
      </dgm:t>
    </dgm:pt>
    <dgm:pt modelId="{7C182849-3ADE-4D67-98EA-4873C7DCD932}" type="sibTrans" cxnId="{9F31955C-EB5F-4674-8AE7-1303EDE2452D}">
      <dgm:prSet/>
      <dgm:spPr/>
      <dgm:t>
        <a:bodyPr/>
        <a:lstStyle/>
        <a:p>
          <a:endParaRPr lang="en-US"/>
        </a:p>
      </dgm:t>
    </dgm:pt>
    <dgm:pt modelId="{3B557954-3816-41E4-A733-B8AD5F44D56C}">
      <dgm:prSet/>
      <dgm:spPr/>
      <dgm:t>
        <a:bodyPr/>
        <a:lstStyle/>
        <a:p>
          <a:r>
            <a:rPr lang="en-US" i="1"/>
            <a:t>Axios for handling HTTP requests between frontend and backend</a:t>
          </a:r>
          <a:endParaRPr lang="en-US"/>
        </a:p>
      </dgm:t>
    </dgm:pt>
    <dgm:pt modelId="{4361BCA5-6456-47F1-819D-D9F56F649B65}" type="parTrans" cxnId="{63974EDE-8528-4A57-9B08-91E09BFB35E6}">
      <dgm:prSet/>
      <dgm:spPr/>
      <dgm:t>
        <a:bodyPr/>
        <a:lstStyle/>
        <a:p>
          <a:endParaRPr lang="en-US"/>
        </a:p>
      </dgm:t>
    </dgm:pt>
    <dgm:pt modelId="{3573274C-FFE3-4B86-9885-E3E82B847E23}" type="sibTrans" cxnId="{63974EDE-8528-4A57-9B08-91E09BFB35E6}">
      <dgm:prSet/>
      <dgm:spPr/>
      <dgm:t>
        <a:bodyPr/>
        <a:lstStyle/>
        <a:p>
          <a:endParaRPr lang="en-US"/>
        </a:p>
      </dgm:t>
    </dgm:pt>
    <dgm:pt modelId="{F86BA5D8-16BE-418B-96BA-19144285AF3B}">
      <dgm:prSet/>
      <dgm:spPr/>
      <dgm:t>
        <a:bodyPr/>
        <a:lstStyle/>
        <a:p>
          <a:r>
            <a:rPr lang="en-US" b="1"/>
            <a:t>Data Visualization</a:t>
          </a:r>
          <a:endParaRPr lang="en-US"/>
        </a:p>
      </dgm:t>
    </dgm:pt>
    <dgm:pt modelId="{AB498C15-6472-47E4-BD99-A48EAAE56F2B}" type="parTrans" cxnId="{C98C2879-47A5-471E-A714-46A7F75F5100}">
      <dgm:prSet/>
      <dgm:spPr/>
      <dgm:t>
        <a:bodyPr/>
        <a:lstStyle/>
        <a:p>
          <a:endParaRPr lang="en-US"/>
        </a:p>
      </dgm:t>
    </dgm:pt>
    <dgm:pt modelId="{7A961343-C18F-42A0-BE09-5EEBAE6F572B}" type="sibTrans" cxnId="{C98C2879-47A5-471E-A714-46A7F75F5100}">
      <dgm:prSet/>
      <dgm:spPr/>
      <dgm:t>
        <a:bodyPr/>
        <a:lstStyle/>
        <a:p>
          <a:endParaRPr lang="en-US"/>
        </a:p>
      </dgm:t>
    </dgm:pt>
    <dgm:pt modelId="{B37D0C87-D489-4B62-A3B8-80E818004CC5}">
      <dgm:prSet/>
      <dgm:spPr/>
      <dgm:t>
        <a:bodyPr/>
        <a:lstStyle/>
        <a:p>
          <a:r>
            <a:rPr lang="en-US" i="1" dirty="0"/>
            <a:t>Recharts for dashboard graphs and financial insights</a:t>
          </a:r>
          <a:endParaRPr lang="en-US" dirty="0"/>
        </a:p>
      </dgm:t>
    </dgm:pt>
    <dgm:pt modelId="{7E300038-104E-40AF-A9E2-D51F4A1AFE8B}" type="parTrans" cxnId="{DF7A325F-C0B3-4C5F-BBFD-42703F63AD35}">
      <dgm:prSet/>
      <dgm:spPr/>
      <dgm:t>
        <a:bodyPr/>
        <a:lstStyle/>
        <a:p>
          <a:endParaRPr lang="en-US"/>
        </a:p>
      </dgm:t>
    </dgm:pt>
    <dgm:pt modelId="{3ED00795-3304-4A21-B5DD-00C115C8C461}" type="sibTrans" cxnId="{DF7A325F-C0B3-4C5F-BBFD-42703F63AD35}">
      <dgm:prSet/>
      <dgm:spPr/>
      <dgm:t>
        <a:bodyPr/>
        <a:lstStyle/>
        <a:p>
          <a:endParaRPr lang="en-US"/>
        </a:p>
      </dgm:t>
    </dgm:pt>
    <dgm:pt modelId="{437AD537-A8E7-43D1-9BB0-55A351D72A5D}">
      <dgm:prSet/>
      <dgm:spPr/>
      <dgm:t>
        <a:bodyPr/>
        <a:lstStyle/>
        <a:p>
          <a:r>
            <a:rPr lang="en-US" b="1"/>
            <a:t>AI Integration</a:t>
          </a:r>
          <a:endParaRPr lang="en-US"/>
        </a:p>
      </dgm:t>
    </dgm:pt>
    <dgm:pt modelId="{28132E4B-11E7-4D3C-A543-94A0397EFC8C}" type="parTrans" cxnId="{B6E70592-2DAA-40B0-BCD1-52551A31D2EC}">
      <dgm:prSet/>
      <dgm:spPr/>
      <dgm:t>
        <a:bodyPr/>
        <a:lstStyle/>
        <a:p>
          <a:endParaRPr lang="en-US"/>
        </a:p>
      </dgm:t>
    </dgm:pt>
    <dgm:pt modelId="{7DCDB003-23A1-46F6-8492-FBBBFA47AC92}" type="sibTrans" cxnId="{B6E70592-2DAA-40B0-BCD1-52551A31D2EC}">
      <dgm:prSet/>
      <dgm:spPr/>
      <dgm:t>
        <a:bodyPr/>
        <a:lstStyle/>
        <a:p>
          <a:endParaRPr lang="en-US"/>
        </a:p>
      </dgm:t>
    </dgm:pt>
    <dgm:pt modelId="{7EA663D3-F073-4D88-8C7D-DF718C58CD01}">
      <dgm:prSet/>
      <dgm:spPr/>
      <dgm:t>
        <a:bodyPr/>
        <a:lstStyle/>
        <a:p>
          <a:r>
            <a:rPr lang="en-US" i="1"/>
            <a:t>OpenAI API for intelligent financial advice and recommendations</a:t>
          </a:r>
          <a:endParaRPr lang="en-US"/>
        </a:p>
      </dgm:t>
    </dgm:pt>
    <dgm:pt modelId="{2B6E4773-AEB4-4C3E-8885-10BC71DABB7D}" type="parTrans" cxnId="{75905D00-3CF1-45D6-875F-D4FD1095A842}">
      <dgm:prSet/>
      <dgm:spPr/>
      <dgm:t>
        <a:bodyPr/>
        <a:lstStyle/>
        <a:p>
          <a:endParaRPr lang="en-US"/>
        </a:p>
      </dgm:t>
    </dgm:pt>
    <dgm:pt modelId="{E1720D8C-94D4-49AE-9322-86562FFECD3D}" type="sibTrans" cxnId="{75905D00-3CF1-45D6-875F-D4FD1095A842}">
      <dgm:prSet/>
      <dgm:spPr/>
      <dgm:t>
        <a:bodyPr/>
        <a:lstStyle/>
        <a:p>
          <a:endParaRPr lang="en-US"/>
        </a:p>
      </dgm:t>
    </dgm:pt>
    <dgm:pt modelId="{C7320007-F050-4C1F-A53E-B34644DFDEAE}" type="pres">
      <dgm:prSet presAssocID="{08BFB547-3953-4118-9E57-E26523AC4406}" presName="diagram" presStyleCnt="0">
        <dgm:presLayoutVars>
          <dgm:dir/>
          <dgm:resizeHandles val="exact"/>
        </dgm:presLayoutVars>
      </dgm:prSet>
      <dgm:spPr/>
    </dgm:pt>
    <dgm:pt modelId="{62E7EA0C-3688-4B6E-A19F-9C6A63F60BF5}" type="pres">
      <dgm:prSet presAssocID="{C08870EB-50CF-4ECF-8D91-692B0142B629}" presName="node" presStyleLbl="node1" presStyleIdx="0" presStyleCnt="7">
        <dgm:presLayoutVars>
          <dgm:bulletEnabled val="1"/>
        </dgm:presLayoutVars>
      </dgm:prSet>
      <dgm:spPr/>
    </dgm:pt>
    <dgm:pt modelId="{3D8A97F5-6E87-4883-8F00-0527A9D174EB}" type="pres">
      <dgm:prSet presAssocID="{82B3691A-8DF7-48CC-B894-97F7D34BED45}" presName="sibTrans" presStyleCnt="0"/>
      <dgm:spPr/>
    </dgm:pt>
    <dgm:pt modelId="{01B5D471-A34B-4AFE-9A0C-866E1A1A21C2}" type="pres">
      <dgm:prSet presAssocID="{47066D33-17AD-499A-806B-4CD2C07C9EF5}" presName="node" presStyleLbl="node1" presStyleIdx="1" presStyleCnt="7">
        <dgm:presLayoutVars>
          <dgm:bulletEnabled val="1"/>
        </dgm:presLayoutVars>
      </dgm:prSet>
      <dgm:spPr/>
    </dgm:pt>
    <dgm:pt modelId="{A2CAB3C2-6B75-406E-919C-4F53A6E47800}" type="pres">
      <dgm:prSet presAssocID="{9B68F8D7-D40B-472F-8467-E735167D2F04}" presName="sibTrans" presStyleCnt="0"/>
      <dgm:spPr/>
    </dgm:pt>
    <dgm:pt modelId="{005B1980-E97D-4B7F-AB64-4E368150D3DD}" type="pres">
      <dgm:prSet presAssocID="{0189432E-3FFA-4F0D-96A2-9A73E4C1E224}" presName="node" presStyleLbl="node1" presStyleIdx="2" presStyleCnt="7">
        <dgm:presLayoutVars>
          <dgm:bulletEnabled val="1"/>
        </dgm:presLayoutVars>
      </dgm:prSet>
      <dgm:spPr/>
    </dgm:pt>
    <dgm:pt modelId="{5EE9092C-3680-4477-92F9-5030FDDA94D5}" type="pres">
      <dgm:prSet presAssocID="{0DF64A9F-F491-4BE0-9EDC-F292AD1F8307}" presName="sibTrans" presStyleCnt="0"/>
      <dgm:spPr/>
    </dgm:pt>
    <dgm:pt modelId="{7D1B6C44-BB23-442F-B10F-BBD018A53AAB}" type="pres">
      <dgm:prSet presAssocID="{BFD5CC2B-2DE7-460A-A599-C0EB4CCF52AC}" presName="node" presStyleLbl="node1" presStyleIdx="3" presStyleCnt="7">
        <dgm:presLayoutVars>
          <dgm:bulletEnabled val="1"/>
        </dgm:presLayoutVars>
      </dgm:prSet>
      <dgm:spPr/>
    </dgm:pt>
    <dgm:pt modelId="{C13CD170-F612-4BB0-B2DA-02310420E656}" type="pres">
      <dgm:prSet presAssocID="{487F4CCF-4F45-427C-835F-0CF0E386D57C}" presName="sibTrans" presStyleCnt="0"/>
      <dgm:spPr/>
    </dgm:pt>
    <dgm:pt modelId="{3AC4FE57-CFF2-4519-B011-D1012B82CE85}" type="pres">
      <dgm:prSet presAssocID="{BA8CD6F2-58D0-4AE2-B050-5617FA44EAEE}" presName="node" presStyleLbl="node1" presStyleIdx="4" presStyleCnt="7">
        <dgm:presLayoutVars>
          <dgm:bulletEnabled val="1"/>
        </dgm:presLayoutVars>
      </dgm:prSet>
      <dgm:spPr/>
    </dgm:pt>
    <dgm:pt modelId="{B11C39D8-23FE-42E4-BAED-BF7CF3808E38}" type="pres">
      <dgm:prSet presAssocID="{7C182849-3ADE-4D67-98EA-4873C7DCD932}" presName="sibTrans" presStyleCnt="0"/>
      <dgm:spPr/>
    </dgm:pt>
    <dgm:pt modelId="{BE93B584-1F23-4B8F-8956-0C89916C0C90}" type="pres">
      <dgm:prSet presAssocID="{F86BA5D8-16BE-418B-96BA-19144285AF3B}" presName="node" presStyleLbl="node1" presStyleIdx="5" presStyleCnt="7">
        <dgm:presLayoutVars>
          <dgm:bulletEnabled val="1"/>
        </dgm:presLayoutVars>
      </dgm:prSet>
      <dgm:spPr/>
    </dgm:pt>
    <dgm:pt modelId="{E8483F59-B5AB-4B05-B533-D791DF43F955}" type="pres">
      <dgm:prSet presAssocID="{7A961343-C18F-42A0-BE09-5EEBAE6F572B}" presName="sibTrans" presStyleCnt="0"/>
      <dgm:spPr/>
    </dgm:pt>
    <dgm:pt modelId="{6509236C-67DA-4D70-98B8-E4CC2F4EF188}" type="pres">
      <dgm:prSet presAssocID="{437AD537-A8E7-43D1-9BB0-55A351D72A5D}" presName="node" presStyleLbl="node1" presStyleIdx="6" presStyleCnt="7">
        <dgm:presLayoutVars>
          <dgm:bulletEnabled val="1"/>
        </dgm:presLayoutVars>
      </dgm:prSet>
      <dgm:spPr/>
    </dgm:pt>
  </dgm:ptLst>
  <dgm:cxnLst>
    <dgm:cxn modelId="{75905D00-3CF1-45D6-875F-D4FD1095A842}" srcId="{437AD537-A8E7-43D1-9BB0-55A351D72A5D}" destId="{7EA663D3-F073-4D88-8C7D-DF718C58CD01}" srcOrd="0" destOrd="0" parTransId="{2B6E4773-AEB4-4C3E-8885-10BC71DABB7D}" sibTransId="{E1720D8C-94D4-49AE-9322-86562FFECD3D}"/>
    <dgm:cxn modelId="{834D6110-B0DF-4CA8-9E3A-676B30736FE4}" srcId="{08BFB547-3953-4118-9E57-E26523AC4406}" destId="{C08870EB-50CF-4ECF-8D91-692B0142B629}" srcOrd="0" destOrd="0" parTransId="{64AFD3B4-A191-4E01-B663-FE5F0319E465}" sibTransId="{82B3691A-8DF7-48CC-B894-97F7D34BED45}"/>
    <dgm:cxn modelId="{014F8C12-C047-406F-988B-1561A50329C2}" srcId="{08BFB547-3953-4118-9E57-E26523AC4406}" destId="{BFD5CC2B-2DE7-460A-A599-C0EB4CCF52AC}" srcOrd="3" destOrd="0" parTransId="{26D4144E-5E98-411B-BCBB-F1BEF90B9A1B}" sibTransId="{487F4CCF-4F45-427C-835F-0CF0E386D57C}"/>
    <dgm:cxn modelId="{7889A821-E303-4FD8-8978-F39F9390689A}" type="presOf" srcId="{0189432E-3FFA-4F0D-96A2-9A73E4C1E224}" destId="{005B1980-E97D-4B7F-AB64-4E368150D3DD}" srcOrd="0" destOrd="0" presId="urn:microsoft.com/office/officeart/2005/8/layout/default"/>
    <dgm:cxn modelId="{E1ACB722-DE38-49D1-ACB1-FB006EEAA9EE}" type="presOf" srcId="{0BCB324B-DFC6-4181-B1BE-3CE96A537302}" destId="{01B5D471-A34B-4AFE-9A0C-866E1A1A21C2}" srcOrd="0" destOrd="1" presId="urn:microsoft.com/office/officeart/2005/8/layout/default"/>
    <dgm:cxn modelId="{863E2A23-C52E-4238-9E9A-745E29B15598}" srcId="{C08870EB-50CF-4ECF-8D91-692B0142B629}" destId="{A59DBAE5-58B9-4EB3-BAC6-15F8BA0EADB6}" srcOrd="0" destOrd="0" parTransId="{5B9F1157-F0B8-40CC-A7AA-68CEB38CCD38}" sibTransId="{12B09F16-5CF0-42B8-BC29-2C7145D5AFBB}"/>
    <dgm:cxn modelId="{AE153C2F-E54D-4C56-AA48-447B5CEE6BF8}" srcId="{08BFB547-3953-4118-9E57-E26523AC4406}" destId="{0189432E-3FFA-4F0D-96A2-9A73E4C1E224}" srcOrd="2" destOrd="0" parTransId="{0B9B2238-57B3-4487-A8E9-AD769AF0FF88}" sibTransId="{0DF64A9F-F491-4BE0-9EDC-F292AD1F8307}"/>
    <dgm:cxn modelId="{4E8B0235-92F3-4D1C-AD71-582FE18D1678}" type="presOf" srcId="{A59DBAE5-58B9-4EB3-BAC6-15F8BA0EADB6}" destId="{62E7EA0C-3688-4B6E-A19F-9C6A63F60BF5}" srcOrd="0" destOrd="1" presId="urn:microsoft.com/office/officeart/2005/8/layout/default"/>
    <dgm:cxn modelId="{9F31955C-EB5F-4674-8AE7-1303EDE2452D}" srcId="{08BFB547-3953-4118-9E57-E26523AC4406}" destId="{BA8CD6F2-58D0-4AE2-B050-5617FA44EAEE}" srcOrd="4" destOrd="0" parTransId="{38FC7C49-B152-4A6D-ADC3-A376A5EBA786}" sibTransId="{7C182849-3ADE-4D67-98EA-4873C7DCD932}"/>
    <dgm:cxn modelId="{DF7A325F-C0B3-4C5F-BBFD-42703F63AD35}" srcId="{F86BA5D8-16BE-418B-96BA-19144285AF3B}" destId="{B37D0C87-D489-4B62-A3B8-80E818004CC5}" srcOrd="0" destOrd="0" parTransId="{7E300038-104E-40AF-A9E2-D51F4A1AFE8B}" sibTransId="{3ED00795-3304-4A21-B5DD-00C115C8C461}"/>
    <dgm:cxn modelId="{73695441-323B-4F86-843B-7C299111A414}" type="presOf" srcId="{AC3468C7-BBCB-4EF2-A355-801EBE0FDA44}" destId="{7D1B6C44-BB23-442F-B10F-BBD018A53AAB}" srcOrd="0" destOrd="1" presId="urn:microsoft.com/office/officeart/2005/8/layout/default"/>
    <dgm:cxn modelId="{E7E4DF63-8318-4459-A39D-E98480B65731}" type="presOf" srcId="{08BFB547-3953-4118-9E57-E26523AC4406}" destId="{C7320007-F050-4C1F-A53E-B34644DFDEAE}" srcOrd="0" destOrd="0" presId="urn:microsoft.com/office/officeart/2005/8/layout/default"/>
    <dgm:cxn modelId="{B9F2534F-707B-4771-ABE8-9F5008FDBC4D}" type="presOf" srcId="{F86BA5D8-16BE-418B-96BA-19144285AF3B}" destId="{BE93B584-1F23-4B8F-8956-0C89916C0C90}" srcOrd="0" destOrd="0" presId="urn:microsoft.com/office/officeart/2005/8/layout/default"/>
    <dgm:cxn modelId="{C98C2879-47A5-471E-A714-46A7F75F5100}" srcId="{08BFB547-3953-4118-9E57-E26523AC4406}" destId="{F86BA5D8-16BE-418B-96BA-19144285AF3B}" srcOrd="5" destOrd="0" parTransId="{AB498C15-6472-47E4-BD99-A48EAAE56F2B}" sibTransId="{7A961343-C18F-42A0-BE09-5EEBAE6F572B}"/>
    <dgm:cxn modelId="{E960AA7A-1B2C-4112-9BCA-51B9F244834F}" srcId="{08BFB547-3953-4118-9E57-E26523AC4406}" destId="{47066D33-17AD-499A-806B-4CD2C07C9EF5}" srcOrd="1" destOrd="0" parTransId="{ED989C17-E23A-4F9A-B4AD-1D640FCDC909}" sibTransId="{9B68F8D7-D40B-472F-8467-E735167D2F04}"/>
    <dgm:cxn modelId="{198A7982-080F-4F1E-8F16-A55FEF474723}" type="presOf" srcId="{437AD537-A8E7-43D1-9BB0-55A351D72A5D}" destId="{6509236C-67DA-4D70-98B8-E4CC2F4EF188}" srcOrd="0" destOrd="0" presId="urn:microsoft.com/office/officeart/2005/8/layout/default"/>
    <dgm:cxn modelId="{0AC14884-C3E0-4E54-BACD-6D4B78D9B3EF}" srcId="{47066D33-17AD-499A-806B-4CD2C07C9EF5}" destId="{0BCB324B-DFC6-4181-B1BE-3CE96A537302}" srcOrd="0" destOrd="0" parTransId="{8293F4A1-F0D0-4447-804F-EA9799B0A370}" sibTransId="{ACF0EBB0-4118-4DE3-9AF8-207512FB110D}"/>
    <dgm:cxn modelId="{CB920F89-F58F-430C-B709-A773FFE1B366}" srcId="{BFD5CC2B-2DE7-460A-A599-C0EB4CCF52AC}" destId="{AC3468C7-BBCB-4EF2-A355-801EBE0FDA44}" srcOrd="0" destOrd="0" parTransId="{357EC413-2C44-4037-9FA9-BFB9920B995E}" sibTransId="{52D8AE0C-0842-4476-BC97-68015F50B07F}"/>
    <dgm:cxn modelId="{D9A4E58B-8BD8-429B-968C-9B92ACE230F8}" type="presOf" srcId="{7EA663D3-F073-4D88-8C7D-DF718C58CD01}" destId="{6509236C-67DA-4D70-98B8-E4CC2F4EF188}" srcOrd="0" destOrd="1" presId="urn:microsoft.com/office/officeart/2005/8/layout/default"/>
    <dgm:cxn modelId="{8A6A8F8F-7A93-48C7-812B-A37B7F9C4843}" srcId="{0189432E-3FFA-4F0D-96A2-9A73E4C1E224}" destId="{354CD527-7B39-4074-A8BD-9A0F4A075B70}" srcOrd="0" destOrd="0" parTransId="{CE7E1135-9958-4D5B-A802-41740C5463D2}" sibTransId="{0A156832-1105-4F4B-A456-47CED6008046}"/>
    <dgm:cxn modelId="{B6E70592-2DAA-40B0-BCD1-52551A31D2EC}" srcId="{08BFB547-3953-4118-9E57-E26523AC4406}" destId="{437AD537-A8E7-43D1-9BB0-55A351D72A5D}" srcOrd="6" destOrd="0" parTransId="{28132E4B-11E7-4D3C-A543-94A0397EFC8C}" sibTransId="{7DCDB003-23A1-46F6-8492-FBBBFA47AC92}"/>
    <dgm:cxn modelId="{71C8B69B-883F-4237-A1E2-B65D0D215F05}" type="presOf" srcId="{B37D0C87-D489-4B62-A3B8-80E818004CC5}" destId="{BE93B584-1F23-4B8F-8956-0C89916C0C90}" srcOrd="0" destOrd="1" presId="urn:microsoft.com/office/officeart/2005/8/layout/default"/>
    <dgm:cxn modelId="{AA1F38B8-C233-48CB-804C-A18E4ECF463B}" type="presOf" srcId="{C08870EB-50CF-4ECF-8D91-692B0142B629}" destId="{62E7EA0C-3688-4B6E-A19F-9C6A63F60BF5}" srcOrd="0" destOrd="0" presId="urn:microsoft.com/office/officeart/2005/8/layout/default"/>
    <dgm:cxn modelId="{72429CBB-783A-48F1-96F3-ABD00532A26A}" type="presOf" srcId="{3B557954-3816-41E4-A733-B8AD5F44D56C}" destId="{3AC4FE57-CFF2-4519-B011-D1012B82CE85}" srcOrd="0" destOrd="1" presId="urn:microsoft.com/office/officeart/2005/8/layout/default"/>
    <dgm:cxn modelId="{F21252C3-D697-46F9-945C-D5B6183C4CDF}" type="presOf" srcId="{47066D33-17AD-499A-806B-4CD2C07C9EF5}" destId="{01B5D471-A34B-4AFE-9A0C-866E1A1A21C2}" srcOrd="0" destOrd="0" presId="urn:microsoft.com/office/officeart/2005/8/layout/default"/>
    <dgm:cxn modelId="{63974EDE-8528-4A57-9B08-91E09BFB35E6}" srcId="{BA8CD6F2-58D0-4AE2-B050-5617FA44EAEE}" destId="{3B557954-3816-41E4-A733-B8AD5F44D56C}" srcOrd="0" destOrd="0" parTransId="{4361BCA5-6456-47F1-819D-D9F56F649B65}" sibTransId="{3573274C-FFE3-4B86-9885-E3E82B847E23}"/>
    <dgm:cxn modelId="{224D4CDF-85EC-481E-90D8-96932D086165}" type="presOf" srcId="{BA8CD6F2-58D0-4AE2-B050-5617FA44EAEE}" destId="{3AC4FE57-CFF2-4519-B011-D1012B82CE85}" srcOrd="0" destOrd="0" presId="urn:microsoft.com/office/officeart/2005/8/layout/default"/>
    <dgm:cxn modelId="{4E983BE4-2C99-4F94-8F65-F092295D882B}" type="presOf" srcId="{BFD5CC2B-2DE7-460A-A599-C0EB4CCF52AC}" destId="{7D1B6C44-BB23-442F-B10F-BBD018A53AAB}" srcOrd="0" destOrd="0" presId="urn:microsoft.com/office/officeart/2005/8/layout/default"/>
    <dgm:cxn modelId="{6030F6F1-600A-4EE6-A03E-36550CB7CC5A}" type="presOf" srcId="{354CD527-7B39-4074-A8BD-9A0F4A075B70}" destId="{005B1980-E97D-4B7F-AB64-4E368150D3DD}" srcOrd="0" destOrd="1" presId="urn:microsoft.com/office/officeart/2005/8/layout/default"/>
    <dgm:cxn modelId="{61371EBE-E30D-4E5D-88FC-754A16800AFF}" type="presParOf" srcId="{C7320007-F050-4C1F-A53E-B34644DFDEAE}" destId="{62E7EA0C-3688-4B6E-A19F-9C6A63F60BF5}" srcOrd="0" destOrd="0" presId="urn:microsoft.com/office/officeart/2005/8/layout/default"/>
    <dgm:cxn modelId="{EBC8A693-8DB9-4EE2-9B3C-EB24D3597E74}" type="presParOf" srcId="{C7320007-F050-4C1F-A53E-B34644DFDEAE}" destId="{3D8A97F5-6E87-4883-8F00-0527A9D174EB}" srcOrd="1" destOrd="0" presId="urn:microsoft.com/office/officeart/2005/8/layout/default"/>
    <dgm:cxn modelId="{2CAF4CB1-5A11-47CD-81F9-9E226BEBA684}" type="presParOf" srcId="{C7320007-F050-4C1F-A53E-B34644DFDEAE}" destId="{01B5D471-A34B-4AFE-9A0C-866E1A1A21C2}" srcOrd="2" destOrd="0" presId="urn:microsoft.com/office/officeart/2005/8/layout/default"/>
    <dgm:cxn modelId="{E681002C-D157-4048-B2B0-243DE1047874}" type="presParOf" srcId="{C7320007-F050-4C1F-A53E-B34644DFDEAE}" destId="{A2CAB3C2-6B75-406E-919C-4F53A6E47800}" srcOrd="3" destOrd="0" presId="urn:microsoft.com/office/officeart/2005/8/layout/default"/>
    <dgm:cxn modelId="{345207F5-1AA6-4B85-A1CC-BA4BFB5B8958}" type="presParOf" srcId="{C7320007-F050-4C1F-A53E-B34644DFDEAE}" destId="{005B1980-E97D-4B7F-AB64-4E368150D3DD}" srcOrd="4" destOrd="0" presId="urn:microsoft.com/office/officeart/2005/8/layout/default"/>
    <dgm:cxn modelId="{975C5087-B19B-45DB-8D2E-A57255E92BD8}" type="presParOf" srcId="{C7320007-F050-4C1F-A53E-B34644DFDEAE}" destId="{5EE9092C-3680-4477-92F9-5030FDDA94D5}" srcOrd="5" destOrd="0" presId="urn:microsoft.com/office/officeart/2005/8/layout/default"/>
    <dgm:cxn modelId="{6EB115AE-C73F-4E17-8844-D23814B8FA54}" type="presParOf" srcId="{C7320007-F050-4C1F-A53E-B34644DFDEAE}" destId="{7D1B6C44-BB23-442F-B10F-BBD018A53AAB}" srcOrd="6" destOrd="0" presId="urn:microsoft.com/office/officeart/2005/8/layout/default"/>
    <dgm:cxn modelId="{4B360940-07CB-4073-99C3-2C604291EC66}" type="presParOf" srcId="{C7320007-F050-4C1F-A53E-B34644DFDEAE}" destId="{C13CD170-F612-4BB0-B2DA-02310420E656}" srcOrd="7" destOrd="0" presId="urn:microsoft.com/office/officeart/2005/8/layout/default"/>
    <dgm:cxn modelId="{2493FF26-9D3E-4CDC-A1B5-8612928CAD02}" type="presParOf" srcId="{C7320007-F050-4C1F-A53E-B34644DFDEAE}" destId="{3AC4FE57-CFF2-4519-B011-D1012B82CE85}" srcOrd="8" destOrd="0" presId="urn:microsoft.com/office/officeart/2005/8/layout/default"/>
    <dgm:cxn modelId="{261BF694-8D53-4DCE-BD0E-9816CBF45B3D}" type="presParOf" srcId="{C7320007-F050-4C1F-A53E-B34644DFDEAE}" destId="{B11C39D8-23FE-42E4-BAED-BF7CF3808E38}" srcOrd="9" destOrd="0" presId="urn:microsoft.com/office/officeart/2005/8/layout/default"/>
    <dgm:cxn modelId="{6FC83E1E-E17D-49FA-92E7-89F9E84D051E}" type="presParOf" srcId="{C7320007-F050-4C1F-A53E-B34644DFDEAE}" destId="{BE93B584-1F23-4B8F-8956-0C89916C0C90}" srcOrd="10" destOrd="0" presId="urn:microsoft.com/office/officeart/2005/8/layout/default"/>
    <dgm:cxn modelId="{0987DADA-1E2E-4371-AC09-31730F622591}" type="presParOf" srcId="{C7320007-F050-4C1F-A53E-B34644DFDEAE}" destId="{E8483F59-B5AB-4B05-B533-D791DF43F955}" srcOrd="11" destOrd="0" presId="urn:microsoft.com/office/officeart/2005/8/layout/default"/>
    <dgm:cxn modelId="{7036059C-F847-4037-993E-924E402657F4}" type="presParOf" srcId="{C7320007-F050-4C1F-A53E-B34644DFDEAE}" destId="{6509236C-67DA-4D70-98B8-E4CC2F4EF188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7D391F-499D-43FD-82C8-0A59BA80206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5E8D898-0F33-458D-B691-D5B73DA25045}">
      <dgm:prSet/>
      <dgm:spPr/>
      <dgm:t>
        <a:bodyPr/>
        <a:lstStyle/>
        <a:p>
          <a:r>
            <a:rPr lang="en-US" b="0" i="0" baseline="0"/>
            <a:t>Built a full-stack Financial Management System for students </a:t>
          </a:r>
          <a:endParaRPr lang="en-US"/>
        </a:p>
      </dgm:t>
    </dgm:pt>
    <dgm:pt modelId="{8C56AE25-435A-490F-9F04-F1D0A67DCFC7}" type="parTrans" cxnId="{2EB4D5A2-E230-47C2-82B6-6B8A37A0F421}">
      <dgm:prSet/>
      <dgm:spPr/>
      <dgm:t>
        <a:bodyPr/>
        <a:lstStyle/>
        <a:p>
          <a:endParaRPr lang="en-US"/>
        </a:p>
      </dgm:t>
    </dgm:pt>
    <dgm:pt modelId="{EDA6A075-CCED-4058-AA40-82D79C3F345C}" type="sibTrans" cxnId="{2EB4D5A2-E230-47C2-82B6-6B8A37A0F421}">
      <dgm:prSet/>
      <dgm:spPr/>
      <dgm:t>
        <a:bodyPr/>
        <a:lstStyle/>
        <a:p>
          <a:endParaRPr lang="en-US"/>
        </a:p>
      </dgm:t>
    </dgm:pt>
    <dgm:pt modelId="{3CA7C1EB-FF56-4EC6-8815-9D718471763A}">
      <dgm:prSet/>
      <dgm:spPr/>
      <dgm:t>
        <a:bodyPr/>
        <a:lstStyle/>
        <a:p>
          <a:r>
            <a:rPr lang="en-US" b="0" i="0" baseline="0"/>
            <a:t>Implemented key features: income/expense tracking, dashboard, prediction, and AI advisor </a:t>
          </a:r>
          <a:endParaRPr lang="en-US"/>
        </a:p>
      </dgm:t>
    </dgm:pt>
    <dgm:pt modelId="{76FD6476-B2DB-4DB6-A837-FA5B21CFD21C}" type="parTrans" cxnId="{2DDC61E1-FF43-4A4A-BEE8-3D60F4DDC40B}">
      <dgm:prSet/>
      <dgm:spPr/>
      <dgm:t>
        <a:bodyPr/>
        <a:lstStyle/>
        <a:p>
          <a:endParaRPr lang="en-US"/>
        </a:p>
      </dgm:t>
    </dgm:pt>
    <dgm:pt modelId="{33FFC356-BE96-4AB2-9F4A-32D08B0FF572}" type="sibTrans" cxnId="{2DDC61E1-FF43-4A4A-BEE8-3D60F4DDC40B}">
      <dgm:prSet/>
      <dgm:spPr/>
      <dgm:t>
        <a:bodyPr/>
        <a:lstStyle/>
        <a:p>
          <a:endParaRPr lang="en-US"/>
        </a:p>
      </dgm:t>
    </dgm:pt>
    <dgm:pt modelId="{937D372A-E32C-4C70-89DD-F91E2F5E2F63}">
      <dgm:prSet/>
      <dgm:spPr/>
      <dgm:t>
        <a:bodyPr/>
        <a:lstStyle/>
        <a:p>
          <a:r>
            <a:rPr lang="en-US" b="0" i="0" baseline="0"/>
            <a:t>Ensured secure, user-specific access using JWT authentication </a:t>
          </a:r>
          <a:endParaRPr lang="en-US"/>
        </a:p>
      </dgm:t>
    </dgm:pt>
    <dgm:pt modelId="{4BAC47D3-3AE7-498C-8DD6-57EA7A4C101A}" type="parTrans" cxnId="{083490A6-39C4-4C63-93D4-F6E37B1F9280}">
      <dgm:prSet/>
      <dgm:spPr/>
      <dgm:t>
        <a:bodyPr/>
        <a:lstStyle/>
        <a:p>
          <a:endParaRPr lang="en-US"/>
        </a:p>
      </dgm:t>
    </dgm:pt>
    <dgm:pt modelId="{606715E1-D2EE-4B2D-99A3-E3AE5B66B770}" type="sibTrans" cxnId="{083490A6-39C4-4C63-93D4-F6E37B1F9280}">
      <dgm:prSet/>
      <dgm:spPr/>
      <dgm:t>
        <a:bodyPr/>
        <a:lstStyle/>
        <a:p>
          <a:endParaRPr lang="en-US"/>
        </a:p>
      </dgm:t>
    </dgm:pt>
    <dgm:pt modelId="{FCDD053A-D87D-439B-879D-2ECFEEEA664C}">
      <dgm:prSet/>
      <dgm:spPr/>
      <dgm:t>
        <a:bodyPr/>
        <a:lstStyle/>
        <a:p>
          <a:r>
            <a:rPr lang="en-US" b="0" i="0" baseline="0"/>
            <a:t>Provides meaningful financial insights and supports better decision-making </a:t>
          </a:r>
          <a:endParaRPr lang="en-US"/>
        </a:p>
      </dgm:t>
    </dgm:pt>
    <dgm:pt modelId="{7A74355C-AB84-4423-8CB5-66EE85053446}" type="parTrans" cxnId="{D963CE5D-DD74-4D5D-9858-F09F871D062D}">
      <dgm:prSet/>
      <dgm:spPr/>
      <dgm:t>
        <a:bodyPr/>
        <a:lstStyle/>
        <a:p>
          <a:endParaRPr lang="en-US"/>
        </a:p>
      </dgm:t>
    </dgm:pt>
    <dgm:pt modelId="{08778434-B241-47FF-85EF-8F89EBD0F22A}" type="sibTrans" cxnId="{D963CE5D-DD74-4D5D-9858-F09F871D062D}">
      <dgm:prSet/>
      <dgm:spPr/>
      <dgm:t>
        <a:bodyPr/>
        <a:lstStyle/>
        <a:p>
          <a:endParaRPr lang="en-US"/>
        </a:p>
      </dgm:t>
    </dgm:pt>
    <dgm:pt modelId="{E88DDB00-6335-46B7-97C4-CC5AF87FFD37}">
      <dgm:prSet/>
      <dgm:spPr/>
      <dgm:t>
        <a:bodyPr/>
        <a:lstStyle/>
        <a:p>
          <a:r>
            <a:rPr lang="en-US" b="0" i="0" baseline="0"/>
            <a:t>Combines analytics, simulation, and AI for real-world usability </a:t>
          </a:r>
          <a:endParaRPr lang="en-US"/>
        </a:p>
      </dgm:t>
    </dgm:pt>
    <dgm:pt modelId="{0E9FA730-E3A2-4347-AD68-9F40C8EC84C9}" type="parTrans" cxnId="{8118BF50-7C79-4596-BF11-0583D1D2F51B}">
      <dgm:prSet/>
      <dgm:spPr/>
      <dgm:t>
        <a:bodyPr/>
        <a:lstStyle/>
        <a:p>
          <a:endParaRPr lang="en-US"/>
        </a:p>
      </dgm:t>
    </dgm:pt>
    <dgm:pt modelId="{F40C3781-40E5-492D-8C0E-29E25486F008}" type="sibTrans" cxnId="{8118BF50-7C79-4596-BF11-0583D1D2F51B}">
      <dgm:prSet/>
      <dgm:spPr/>
      <dgm:t>
        <a:bodyPr/>
        <a:lstStyle/>
        <a:p>
          <a:endParaRPr lang="en-US"/>
        </a:p>
      </dgm:t>
    </dgm:pt>
    <dgm:pt modelId="{1CAFFE3D-8739-4DCE-B26B-72D762AB11EF}">
      <dgm:prSet/>
      <dgm:spPr/>
      <dgm:t>
        <a:bodyPr/>
        <a:lstStyle/>
        <a:p>
          <a:r>
            <a:rPr lang="en-US" b="0" i="0" baseline="0"/>
            <a:t>Designed with scalability, security, and future enhancements in mind </a:t>
          </a:r>
          <a:endParaRPr lang="en-US"/>
        </a:p>
      </dgm:t>
    </dgm:pt>
    <dgm:pt modelId="{90708C7C-D55F-496E-8FEA-451EA1E84764}" type="parTrans" cxnId="{65A47BAF-6429-47BA-9C5C-74E8F5607300}">
      <dgm:prSet/>
      <dgm:spPr/>
      <dgm:t>
        <a:bodyPr/>
        <a:lstStyle/>
        <a:p>
          <a:endParaRPr lang="en-US"/>
        </a:p>
      </dgm:t>
    </dgm:pt>
    <dgm:pt modelId="{95486EC4-5C93-4469-B50F-135C9E82897A}" type="sibTrans" cxnId="{65A47BAF-6429-47BA-9C5C-74E8F5607300}">
      <dgm:prSet/>
      <dgm:spPr/>
      <dgm:t>
        <a:bodyPr/>
        <a:lstStyle/>
        <a:p>
          <a:endParaRPr lang="en-US"/>
        </a:p>
      </dgm:t>
    </dgm:pt>
    <dgm:pt modelId="{95993F90-D956-4BBD-8B2D-038649DDD9CA}" type="pres">
      <dgm:prSet presAssocID="{AD7D391F-499D-43FD-82C8-0A59BA80206D}" presName="root" presStyleCnt="0">
        <dgm:presLayoutVars>
          <dgm:dir/>
          <dgm:resizeHandles val="exact"/>
        </dgm:presLayoutVars>
      </dgm:prSet>
      <dgm:spPr/>
    </dgm:pt>
    <dgm:pt modelId="{4E85C8C9-3AA7-42A0-B76A-9B13360F35EA}" type="pres">
      <dgm:prSet presAssocID="{45E8D898-0F33-458D-B691-D5B73DA25045}" presName="compNode" presStyleCnt="0"/>
      <dgm:spPr/>
    </dgm:pt>
    <dgm:pt modelId="{0A18E0E3-4377-454E-AC1A-9394094BEA6A}" type="pres">
      <dgm:prSet presAssocID="{45E8D898-0F33-458D-B691-D5B73DA25045}" presName="bgRect" presStyleLbl="bgShp" presStyleIdx="0" presStyleCnt="6"/>
      <dgm:spPr/>
    </dgm:pt>
    <dgm:pt modelId="{0DBF67BF-8B9D-4E4B-B864-B8266BAAC827}" type="pres">
      <dgm:prSet presAssocID="{45E8D898-0F33-458D-B691-D5B73DA25045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46B9089F-088D-49BB-9180-7D5D5518A30B}" type="pres">
      <dgm:prSet presAssocID="{45E8D898-0F33-458D-B691-D5B73DA25045}" presName="spaceRect" presStyleCnt="0"/>
      <dgm:spPr/>
    </dgm:pt>
    <dgm:pt modelId="{51469524-0F01-41FA-8773-8F15786EC5DE}" type="pres">
      <dgm:prSet presAssocID="{45E8D898-0F33-458D-B691-D5B73DA25045}" presName="parTx" presStyleLbl="revTx" presStyleIdx="0" presStyleCnt="6">
        <dgm:presLayoutVars>
          <dgm:chMax val="0"/>
          <dgm:chPref val="0"/>
        </dgm:presLayoutVars>
      </dgm:prSet>
      <dgm:spPr/>
    </dgm:pt>
    <dgm:pt modelId="{DDE47558-F927-47B0-8647-49FA4EF8F95F}" type="pres">
      <dgm:prSet presAssocID="{EDA6A075-CCED-4058-AA40-82D79C3F345C}" presName="sibTrans" presStyleCnt="0"/>
      <dgm:spPr/>
    </dgm:pt>
    <dgm:pt modelId="{CE5EC48E-181A-4D58-9A9D-EA6E640FCA99}" type="pres">
      <dgm:prSet presAssocID="{3CA7C1EB-FF56-4EC6-8815-9D718471763A}" presName="compNode" presStyleCnt="0"/>
      <dgm:spPr/>
    </dgm:pt>
    <dgm:pt modelId="{D76BF944-2566-420D-8EB5-B58C7AD16CED}" type="pres">
      <dgm:prSet presAssocID="{3CA7C1EB-FF56-4EC6-8815-9D718471763A}" presName="bgRect" presStyleLbl="bgShp" presStyleIdx="1" presStyleCnt="6"/>
      <dgm:spPr/>
    </dgm:pt>
    <dgm:pt modelId="{CBBA184C-7CFD-464D-B2B4-E292DF720969}" type="pres">
      <dgm:prSet presAssocID="{3CA7C1EB-FF56-4EC6-8815-9D718471763A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78D40CC-8CBC-49E9-AF38-B5139FE42BC4}" type="pres">
      <dgm:prSet presAssocID="{3CA7C1EB-FF56-4EC6-8815-9D718471763A}" presName="spaceRect" presStyleCnt="0"/>
      <dgm:spPr/>
    </dgm:pt>
    <dgm:pt modelId="{EC27753A-AF85-4ED2-B864-AE5BEBA193FF}" type="pres">
      <dgm:prSet presAssocID="{3CA7C1EB-FF56-4EC6-8815-9D718471763A}" presName="parTx" presStyleLbl="revTx" presStyleIdx="1" presStyleCnt="6">
        <dgm:presLayoutVars>
          <dgm:chMax val="0"/>
          <dgm:chPref val="0"/>
        </dgm:presLayoutVars>
      </dgm:prSet>
      <dgm:spPr/>
    </dgm:pt>
    <dgm:pt modelId="{9B3A0427-3336-4EDC-AB8D-D066104CC07B}" type="pres">
      <dgm:prSet presAssocID="{33FFC356-BE96-4AB2-9F4A-32D08B0FF572}" presName="sibTrans" presStyleCnt="0"/>
      <dgm:spPr/>
    </dgm:pt>
    <dgm:pt modelId="{50BACC68-D621-4653-9567-FF60278B1A8C}" type="pres">
      <dgm:prSet presAssocID="{937D372A-E32C-4C70-89DD-F91E2F5E2F63}" presName="compNode" presStyleCnt="0"/>
      <dgm:spPr/>
    </dgm:pt>
    <dgm:pt modelId="{27390541-3E12-4321-A431-08FA3126FA17}" type="pres">
      <dgm:prSet presAssocID="{937D372A-E32C-4C70-89DD-F91E2F5E2F63}" presName="bgRect" presStyleLbl="bgShp" presStyleIdx="2" presStyleCnt="6"/>
      <dgm:spPr/>
    </dgm:pt>
    <dgm:pt modelId="{77C468C0-4E59-442D-8164-0BBA4FD7E496}" type="pres">
      <dgm:prSet presAssocID="{937D372A-E32C-4C70-89DD-F91E2F5E2F63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14B7F8D7-BE06-47A1-9549-79FF3E6560C2}" type="pres">
      <dgm:prSet presAssocID="{937D372A-E32C-4C70-89DD-F91E2F5E2F63}" presName="spaceRect" presStyleCnt="0"/>
      <dgm:spPr/>
    </dgm:pt>
    <dgm:pt modelId="{C11DFFF3-2D2E-49EE-9833-7D3BE5FBF22A}" type="pres">
      <dgm:prSet presAssocID="{937D372A-E32C-4C70-89DD-F91E2F5E2F63}" presName="parTx" presStyleLbl="revTx" presStyleIdx="2" presStyleCnt="6">
        <dgm:presLayoutVars>
          <dgm:chMax val="0"/>
          <dgm:chPref val="0"/>
        </dgm:presLayoutVars>
      </dgm:prSet>
      <dgm:spPr/>
    </dgm:pt>
    <dgm:pt modelId="{C97C4519-7EAD-4396-BE85-67526ADDA0BD}" type="pres">
      <dgm:prSet presAssocID="{606715E1-D2EE-4B2D-99A3-E3AE5B66B770}" presName="sibTrans" presStyleCnt="0"/>
      <dgm:spPr/>
    </dgm:pt>
    <dgm:pt modelId="{34EA60E5-EF66-41A4-8229-F463BC3E8B80}" type="pres">
      <dgm:prSet presAssocID="{FCDD053A-D87D-439B-879D-2ECFEEEA664C}" presName="compNode" presStyleCnt="0"/>
      <dgm:spPr/>
    </dgm:pt>
    <dgm:pt modelId="{4793677E-0AA0-43B7-B2A9-1D09D5921774}" type="pres">
      <dgm:prSet presAssocID="{FCDD053A-D87D-439B-879D-2ECFEEEA664C}" presName="bgRect" presStyleLbl="bgShp" presStyleIdx="3" presStyleCnt="6"/>
      <dgm:spPr/>
    </dgm:pt>
    <dgm:pt modelId="{E4EE1748-90B5-4FCF-80E0-846AE4248F18}" type="pres">
      <dgm:prSet presAssocID="{FCDD053A-D87D-439B-879D-2ECFEEEA664C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9BDE7D0-4C22-43B3-9953-2D99A03334CA}" type="pres">
      <dgm:prSet presAssocID="{FCDD053A-D87D-439B-879D-2ECFEEEA664C}" presName="spaceRect" presStyleCnt="0"/>
      <dgm:spPr/>
    </dgm:pt>
    <dgm:pt modelId="{8AF1003E-0F72-43AA-9837-3111C3AEA53B}" type="pres">
      <dgm:prSet presAssocID="{FCDD053A-D87D-439B-879D-2ECFEEEA664C}" presName="parTx" presStyleLbl="revTx" presStyleIdx="3" presStyleCnt="6">
        <dgm:presLayoutVars>
          <dgm:chMax val="0"/>
          <dgm:chPref val="0"/>
        </dgm:presLayoutVars>
      </dgm:prSet>
      <dgm:spPr/>
    </dgm:pt>
    <dgm:pt modelId="{CD153D7A-B97C-4C1A-A9AF-E880021ACE0A}" type="pres">
      <dgm:prSet presAssocID="{08778434-B241-47FF-85EF-8F89EBD0F22A}" presName="sibTrans" presStyleCnt="0"/>
      <dgm:spPr/>
    </dgm:pt>
    <dgm:pt modelId="{38D3F727-5E52-4FC6-A1B3-FD9DF1F3443F}" type="pres">
      <dgm:prSet presAssocID="{E88DDB00-6335-46B7-97C4-CC5AF87FFD37}" presName="compNode" presStyleCnt="0"/>
      <dgm:spPr/>
    </dgm:pt>
    <dgm:pt modelId="{AE645BCF-CB9E-429A-A14F-E886E8AA883A}" type="pres">
      <dgm:prSet presAssocID="{E88DDB00-6335-46B7-97C4-CC5AF87FFD37}" presName="bgRect" presStyleLbl="bgShp" presStyleIdx="4" presStyleCnt="6"/>
      <dgm:spPr/>
    </dgm:pt>
    <dgm:pt modelId="{A39227CE-491A-4A7C-BECE-5813BE2FFF03}" type="pres">
      <dgm:prSet presAssocID="{E88DDB00-6335-46B7-97C4-CC5AF87FFD3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F0F2EC35-5589-4045-A970-E61AF42ABA64}" type="pres">
      <dgm:prSet presAssocID="{E88DDB00-6335-46B7-97C4-CC5AF87FFD37}" presName="spaceRect" presStyleCnt="0"/>
      <dgm:spPr/>
    </dgm:pt>
    <dgm:pt modelId="{752E2A0D-BB98-45AD-A17D-50A784A44DAE}" type="pres">
      <dgm:prSet presAssocID="{E88DDB00-6335-46B7-97C4-CC5AF87FFD37}" presName="parTx" presStyleLbl="revTx" presStyleIdx="4" presStyleCnt="6">
        <dgm:presLayoutVars>
          <dgm:chMax val="0"/>
          <dgm:chPref val="0"/>
        </dgm:presLayoutVars>
      </dgm:prSet>
      <dgm:spPr/>
    </dgm:pt>
    <dgm:pt modelId="{0D8554F7-0471-40FC-9215-D2392AF82A55}" type="pres">
      <dgm:prSet presAssocID="{F40C3781-40E5-492D-8C0E-29E25486F008}" presName="sibTrans" presStyleCnt="0"/>
      <dgm:spPr/>
    </dgm:pt>
    <dgm:pt modelId="{DF2ED51D-7F6F-4B7B-8B33-651026A73C3D}" type="pres">
      <dgm:prSet presAssocID="{1CAFFE3D-8739-4DCE-B26B-72D762AB11EF}" presName="compNode" presStyleCnt="0"/>
      <dgm:spPr/>
    </dgm:pt>
    <dgm:pt modelId="{110AF416-D01E-46D3-863D-FBD76C918652}" type="pres">
      <dgm:prSet presAssocID="{1CAFFE3D-8739-4DCE-B26B-72D762AB11EF}" presName="bgRect" presStyleLbl="bgShp" presStyleIdx="5" presStyleCnt="6"/>
      <dgm:spPr/>
    </dgm:pt>
    <dgm:pt modelId="{51C139B5-8BB1-4402-8E0D-CC998433E7DA}" type="pres">
      <dgm:prSet presAssocID="{1CAFFE3D-8739-4DCE-B26B-72D762AB11E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9B95CD0-0F5B-4C81-8119-03510514072D}" type="pres">
      <dgm:prSet presAssocID="{1CAFFE3D-8739-4DCE-B26B-72D762AB11EF}" presName="spaceRect" presStyleCnt="0"/>
      <dgm:spPr/>
    </dgm:pt>
    <dgm:pt modelId="{9CDBEA4A-54AA-42AD-8769-8761945A33AC}" type="pres">
      <dgm:prSet presAssocID="{1CAFFE3D-8739-4DCE-B26B-72D762AB11E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1F59F0A-019E-48A6-954E-B1A9814EE542}" type="presOf" srcId="{E88DDB00-6335-46B7-97C4-CC5AF87FFD37}" destId="{752E2A0D-BB98-45AD-A17D-50A784A44DAE}" srcOrd="0" destOrd="0" presId="urn:microsoft.com/office/officeart/2018/2/layout/IconVerticalSolidList"/>
    <dgm:cxn modelId="{37B9FF2A-BFC3-4AA1-A7AC-C57597B34EE6}" type="presOf" srcId="{3CA7C1EB-FF56-4EC6-8815-9D718471763A}" destId="{EC27753A-AF85-4ED2-B864-AE5BEBA193FF}" srcOrd="0" destOrd="0" presId="urn:microsoft.com/office/officeart/2018/2/layout/IconVerticalSolidList"/>
    <dgm:cxn modelId="{679CF337-1453-45CA-B4D8-C868B9D12954}" type="presOf" srcId="{FCDD053A-D87D-439B-879D-2ECFEEEA664C}" destId="{8AF1003E-0F72-43AA-9837-3111C3AEA53B}" srcOrd="0" destOrd="0" presId="urn:microsoft.com/office/officeart/2018/2/layout/IconVerticalSolidList"/>
    <dgm:cxn modelId="{D963CE5D-DD74-4D5D-9858-F09F871D062D}" srcId="{AD7D391F-499D-43FD-82C8-0A59BA80206D}" destId="{FCDD053A-D87D-439B-879D-2ECFEEEA664C}" srcOrd="3" destOrd="0" parTransId="{7A74355C-AB84-4423-8CB5-66EE85053446}" sibTransId="{08778434-B241-47FF-85EF-8F89EBD0F22A}"/>
    <dgm:cxn modelId="{8118BF50-7C79-4596-BF11-0583D1D2F51B}" srcId="{AD7D391F-499D-43FD-82C8-0A59BA80206D}" destId="{E88DDB00-6335-46B7-97C4-CC5AF87FFD37}" srcOrd="4" destOrd="0" parTransId="{0E9FA730-E3A2-4347-AD68-9F40C8EC84C9}" sibTransId="{F40C3781-40E5-492D-8C0E-29E25486F008}"/>
    <dgm:cxn modelId="{69D43854-B388-40A5-80BB-46776FD23263}" type="presOf" srcId="{AD7D391F-499D-43FD-82C8-0A59BA80206D}" destId="{95993F90-D956-4BBD-8B2D-038649DDD9CA}" srcOrd="0" destOrd="0" presId="urn:microsoft.com/office/officeart/2018/2/layout/IconVerticalSolidList"/>
    <dgm:cxn modelId="{C4C0658B-8B52-4D10-AF77-29F7B7C35018}" type="presOf" srcId="{937D372A-E32C-4C70-89DD-F91E2F5E2F63}" destId="{C11DFFF3-2D2E-49EE-9833-7D3BE5FBF22A}" srcOrd="0" destOrd="0" presId="urn:microsoft.com/office/officeart/2018/2/layout/IconVerticalSolidList"/>
    <dgm:cxn modelId="{5405728D-4A02-46FE-A084-30992E69839B}" type="presOf" srcId="{45E8D898-0F33-458D-B691-D5B73DA25045}" destId="{51469524-0F01-41FA-8773-8F15786EC5DE}" srcOrd="0" destOrd="0" presId="urn:microsoft.com/office/officeart/2018/2/layout/IconVerticalSolidList"/>
    <dgm:cxn modelId="{2EB4D5A2-E230-47C2-82B6-6B8A37A0F421}" srcId="{AD7D391F-499D-43FD-82C8-0A59BA80206D}" destId="{45E8D898-0F33-458D-B691-D5B73DA25045}" srcOrd="0" destOrd="0" parTransId="{8C56AE25-435A-490F-9F04-F1D0A67DCFC7}" sibTransId="{EDA6A075-CCED-4058-AA40-82D79C3F345C}"/>
    <dgm:cxn modelId="{083490A6-39C4-4C63-93D4-F6E37B1F9280}" srcId="{AD7D391F-499D-43FD-82C8-0A59BA80206D}" destId="{937D372A-E32C-4C70-89DD-F91E2F5E2F63}" srcOrd="2" destOrd="0" parTransId="{4BAC47D3-3AE7-498C-8DD6-57EA7A4C101A}" sibTransId="{606715E1-D2EE-4B2D-99A3-E3AE5B66B770}"/>
    <dgm:cxn modelId="{65A47BAF-6429-47BA-9C5C-74E8F5607300}" srcId="{AD7D391F-499D-43FD-82C8-0A59BA80206D}" destId="{1CAFFE3D-8739-4DCE-B26B-72D762AB11EF}" srcOrd="5" destOrd="0" parTransId="{90708C7C-D55F-496E-8FEA-451EA1E84764}" sibTransId="{95486EC4-5C93-4469-B50F-135C9E82897A}"/>
    <dgm:cxn modelId="{1BDA93CE-0FE1-467F-9DB9-84CEDB8F4821}" type="presOf" srcId="{1CAFFE3D-8739-4DCE-B26B-72D762AB11EF}" destId="{9CDBEA4A-54AA-42AD-8769-8761945A33AC}" srcOrd="0" destOrd="0" presId="urn:microsoft.com/office/officeart/2018/2/layout/IconVerticalSolidList"/>
    <dgm:cxn modelId="{2DDC61E1-FF43-4A4A-BEE8-3D60F4DDC40B}" srcId="{AD7D391F-499D-43FD-82C8-0A59BA80206D}" destId="{3CA7C1EB-FF56-4EC6-8815-9D718471763A}" srcOrd="1" destOrd="0" parTransId="{76FD6476-B2DB-4DB6-A837-FA5B21CFD21C}" sibTransId="{33FFC356-BE96-4AB2-9F4A-32D08B0FF572}"/>
    <dgm:cxn modelId="{F619201A-D9D9-4D38-BCA5-A9272877579C}" type="presParOf" srcId="{95993F90-D956-4BBD-8B2D-038649DDD9CA}" destId="{4E85C8C9-3AA7-42A0-B76A-9B13360F35EA}" srcOrd="0" destOrd="0" presId="urn:microsoft.com/office/officeart/2018/2/layout/IconVerticalSolidList"/>
    <dgm:cxn modelId="{C389B947-C247-4C15-9D88-1272B22B78B9}" type="presParOf" srcId="{4E85C8C9-3AA7-42A0-B76A-9B13360F35EA}" destId="{0A18E0E3-4377-454E-AC1A-9394094BEA6A}" srcOrd="0" destOrd="0" presId="urn:microsoft.com/office/officeart/2018/2/layout/IconVerticalSolidList"/>
    <dgm:cxn modelId="{3EC14F77-0744-4123-9CC4-110EF246CBE2}" type="presParOf" srcId="{4E85C8C9-3AA7-42A0-B76A-9B13360F35EA}" destId="{0DBF67BF-8B9D-4E4B-B864-B8266BAAC827}" srcOrd="1" destOrd="0" presId="urn:microsoft.com/office/officeart/2018/2/layout/IconVerticalSolidList"/>
    <dgm:cxn modelId="{090805BD-EC05-41F9-BDFB-603379DD5556}" type="presParOf" srcId="{4E85C8C9-3AA7-42A0-B76A-9B13360F35EA}" destId="{46B9089F-088D-49BB-9180-7D5D5518A30B}" srcOrd="2" destOrd="0" presId="urn:microsoft.com/office/officeart/2018/2/layout/IconVerticalSolidList"/>
    <dgm:cxn modelId="{75ECA883-8D4E-4DC6-B58E-47D79A4F0CB5}" type="presParOf" srcId="{4E85C8C9-3AA7-42A0-B76A-9B13360F35EA}" destId="{51469524-0F01-41FA-8773-8F15786EC5DE}" srcOrd="3" destOrd="0" presId="urn:microsoft.com/office/officeart/2018/2/layout/IconVerticalSolidList"/>
    <dgm:cxn modelId="{C7943A3E-18E1-4F54-BF85-39D43CFF6DBB}" type="presParOf" srcId="{95993F90-D956-4BBD-8B2D-038649DDD9CA}" destId="{DDE47558-F927-47B0-8647-49FA4EF8F95F}" srcOrd="1" destOrd="0" presId="urn:microsoft.com/office/officeart/2018/2/layout/IconVerticalSolidList"/>
    <dgm:cxn modelId="{55130318-B34A-41D2-8B18-670FC49B0290}" type="presParOf" srcId="{95993F90-D956-4BBD-8B2D-038649DDD9CA}" destId="{CE5EC48E-181A-4D58-9A9D-EA6E640FCA99}" srcOrd="2" destOrd="0" presId="urn:microsoft.com/office/officeart/2018/2/layout/IconVerticalSolidList"/>
    <dgm:cxn modelId="{A36DDB42-E9EC-4225-B9CA-0AFC38F9205D}" type="presParOf" srcId="{CE5EC48E-181A-4D58-9A9D-EA6E640FCA99}" destId="{D76BF944-2566-420D-8EB5-B58C7AD16CED}" srcOrd="0" destOrd="0" presId="urn:microsoft.com/office/officeart/2018/2/layout/IconVerticalSolidList"/>
    <dgm:cxn modelId="{47A36632-56D8-433D-890A-5C5ABB055A1C}" type="presParOf" srcId="{CE5EC48E-181A-4D58-9A9D-EA6E640FCA99}" destId="{CBBA184C-7CFD-464D-B2B4-E292DF720969}" srcOrd="1" destOrd="0" presId="urn:microsoft.com/office/officeart/2018/2/layout/IconVerticalSolidList"/>
    <dgm:cxn modelId="{D2F42717-0A58-403D-BD85-9345B9A170B1}" type="presParOf" srcId="{CE5EC48E-181A-4D58-9A9D-EA6E640FCA99}" destId="{378D40CC-8CBC-49E9-AF38-B5139FE42BC4}" srcOrd="2" destOrd="0" presId="urn:microsoft.com/office/officeart/2018/2/layout/IconVerticalSolidList"/>
    <dgm:cxn modelId="{EE51D0E2-022D-4D09-8A2D-70348AA05BA0}" type="presParOf" srcId="{CE5EC48E-181A-4D58-9A9D-EA6E640FCA99}" destId="{EC27753A-AF85-4ED2-B864-AE5BEBA193FF}" srcOrd="3" destOrd="0" presId="urn:microsoft.com/office/officeart/2018/2/layout/IconVerticalSolidList"/>
    <dgm:cxn modelId="{A7BDE15C-5017-45F2-8E2A-5149CC8E75B3}" type="presParOf" srcId="{95993F90-D956-4BBD-8B2D-038649DDD9CA}" destId="{9B3A0427-3336-4EDC-AB8D-D066104CC07B}" srcOrd="3" destOrd="0" presId="urn:microsoft.com/office/officeart/2018/2/layout/IconVerticalSolidList"/>
    <dgm:cxn modelId="{90CCCB20-A8A3-42A0-8A6D-E7C05E46BB1B}" type="presParOf" srcId="{95993F90-D956-4BBD-8B2D-038649DDD9CA}" destId="{50BACC68-D621-4653-9567-FF60278B1A8C}" srcOrd="4" destOrd="0" presId="urn:microsoft.com/office/officeart/2018/2/layout/IconVerticalSolidList"/>
    <dgm:cxn modelId="{B3AD9995-AE70-4DB5-B628-3623286CFD8D}" type="presParOf" srcId="{50BACC68-D621-4653-9567-FF60278B1A8C}" destId="{27390541-3E12-4321-A431-08FA3126FA17}" srcOrd="0" destOrd="0" presId="urn:microsoft.com/office/officeart/2018/2/layout/IconVerticalSolidList"/>
    <dgm:cxn modelId="{90E347B8-2092-496C-B914-5D733E3C176E}" type="presParOf" srcId="{50BACC68-D621-4653-9567-FF60278B1A8C}" destId="{77C468C0-4E59-442D-8164-0BBA4FD7E496}" srcOrd="1" destOrd="0" presId="urn:microsoft.com/office/officeart/2018/2/layout/IconVerticalSolidList"/>
    <dgm:cxn modelId="{C1A37E1C-7F19-48A0-9495-7A8852E92B9F}" type="presParOf" srcId="{50BACC68-D621-4653-9567-FF60278B1A8C}" destId="{14B7F8D7-BE06-47A1-9549-79FF3E6560C2}" srcOrd="2" destOrd="0" presId="urn:microsoft.com/office/officeart/2018/2/layout/IconVerticalSolidList"/>
    <dgm:cxn modelId="{4444AF82-9D54-49CA-A4FB-65BF79DB28D7}" type="presParOf" srcId="{50BACC68-D621-4653-9567-FF60278B1A8C}" destId="{C11DFFF3-2D2E-49EE-9833-7D3BE5FBF22A}" srcOrd="3" destOrd="0" presId="urn:microsoft.com/office/officeart/2018/2/layout/IconVerticalSolidList"/>
    <dgm:cxn modelId="{95E8D580-58FF-4E77-A7F6-96EBDAED1662}" type="presParOf" srcId="{95993F90-D956-4BBD-8B2D-038649DDD9CA}" destId="{C97C4519-7EAD-4396-BE85-67526ADDA0BD}" srcOrd="5" destOrd="0" presId="urn:microsoft.com/office/officeart/2018/2/layout/IconVerticalSolidList"/>
    <dgm:cxn modelId="{DBC6A83A-1696-43CF-B5F4-4F1CB5E730E1}" type="presParOf" srcId="{95993F90-D956-4BBD-8B2D-038649DDD9CA}" destId="{34EA60E5-EF66-41A4-8229-F463BC3E8B80}" srcOrd="6" destOrd="0" presId="urn:microsoft.com/office/officeart/2018/2/layout/IconVerticalSolidList"/>
    <dgm:cxn modelId="{4152F332-042D-4F8B-8BA4-DE189B747244}" type="presParOf" srcId="{34EA60E5-EF66-41A4-8229-F463BC3E8B80}" destId="{4793677E-0AA0-43B7-B2A9-1D09D5921774}" srcOrd="0" destOrd="0" presId="urn:microsoft.com/office/officeart/2018/2/layout/IconVerticalSolidList"/>
    <dgm:cxn modelId="{C84CC3B7-45D9-440E-B0B4-45C6F5DD20A7}" type="presParOf" srcId="{34EA60E5-EF66-41A4-8229-F463BC3E8B80}" destId="{E4EE1748-90B5-4FCF-80E0-846AE4248F18}" srcOrd="1" destOrd="0" presId="urn:microsoft.com/office/officeart/2018/2/layout/IconVerticalSolidList"/>
    <dgm:cxn modelId="{7B1C2B8B-D6E0-4D01-929C-67B61755199B}" type="presParOf" srcId="{34EA60E5-EF66-41A4-8229-F463BC3E8B80}" destId="{09BDE7D0-4C22-43B3-9953-2D99A03334CA}" srcOrd="2" destOrd="0" presId="urn:microsoft.com/office/officeart/2018/2/layout/IconVerticalSolidList"/>
    <dgm:cxn modelId="{9F3DD51A-3E9E-4CB1-9102-77DEBDE46E40}" type="presParOf" srcId="{34EA60E5-EF66-41A4-8229-F463BC3E8B80}" destId="{8AF1003E-0F72-43AA-9837-3111C3AEA53B}" srcOrd="3" destOrd="0" presId="urn:microsoft.com/office/officeart/2018/2/layout/IconVerticalSolidList"/>
    <dgm:cxn modelId="{994EB9A6-7867-470F-A480-18F381CEFD0C}" type="presParOf" srcId="{95993F90-D956-4BBD-8B2D-038649DDD9CA}" destId="{CD153D7A-B97C-4C1A-A9AF-E880021ACE0A}" srcOrd="7" destOrd="0" presId="urn:microsoft.com/office/officeart/2018/2/layout/IconVerticalSolidList"/>
    <dgm:cxn modelId="{F5DD0430-F29D-4B93-AFB4-11CEF5FF602F}" type="presParOf" srcId="{95993F90-D956-4BBD-8B2D-038649DDD9CA}" destId="{38D3F727-5E52-4FC6-A1B3-FD9DF1F3443F}" srcOrd="8" destOrd="0" presId="urn:microsoft.com/office/officeart/2018/2/layout/IconVerticalSolidList"/>
    <dgm:cxn modelId="{193AED20-A88F-4C1B-9942-7B9CB69097CE}" type="presParOf" srcId="{38D3F727-5E52-4FC6-A1B3-FD9DF1F3443F}" destId="{AE645BCF-CB9E-429A-A14F-E886E8AA883A}" srcOrd="0" destOrd="0" presId="urn:microsoft.com/office/officeart/2018/2/layout/IconVerticalSolidList"/>
    <dgm:cxn modelId="{AA89957E-3BC6-45EA-A746-7D9329987C25}" type="presParOf" srcId="{38D3F727-5E52-4FC6-A1B3-FD9DF1F3443F}" destId="{A39227CE-491A-4A7C-BECE-5813BE2FFF03}" srcOrd="1" destOrd="0" presId="urn:microsoft.com/office/officeart/2018/2/layout/IconVerticalSolidList"/>
    <dgm:cxn modelId="{EA4F7B14-CF52-4B21-A2C2-5415D661CB24}" type="presParOf" srcId="{38D3F727-5E52-4FC6-A1B3-FD9DF1F3443F}" destId="{F0F2EC35-5589-4045-A970-E61AF42ABA64}" srcOrd="2" destOrd="0" presId="urn:microsoft.com/office/officeart/2018/2/layout/IconVerticalSolidList"/>
    <dgm:cxn modelId="{BD7E12E0-8A59-4264-B11D-5D97882D5865}" type="presParOf" srcId="{38D3F727-5E52-4FC6-A1B3-FD9DF1F3443F}" destId="{752E2A0D-BB98-45AD-A17D-50A784A44DAE}" srcOrd="3" destOrd="0" presId="urn:microsoft.com/office/officeart/2018/2/layout/IconVerticalSolidList"/>
    <dgm:cxn modelId="{C52EFE48-92F3-4BDB-B48B-76291F8A2958}" type="presParOf" srcId="{95993F90-D956-4BBD-8B2D-038649DDD9CA}" destId="{0D8554F7-0471-40FC-9215-D2392AF82A55}" srcOrd="9" destOrd="0" presId="urn:microsoft.com/office/officeart/2018/2/layout/IconVerticalSolidList"/>
    <dgm:cxn modelId="{223BBDAF-FC12-4F27-BDC9-F8B8C9F3D4F3}" type="presParOf" srcId="{95993F90-D956-4BBD-8B2D-038649DDD9CA}" destId="{DF2ED51D-7F6F-4B7B-8B33-651026A73C3D}" srcOrd="10" destOrd="0" presId="urn:microsoft.com/office/officeart/2018/2/layout/IconVerticalSolidList"/>
    <dgm:cxn modelId="{4802E3EB-3AC0-43EE-92F8-4971C041B7C1}" type="presParOf" srcId="{DF2ED51D-7F6F-4B7B-8B33-651026A73C3D}" destId="{110AF416-D01E-46D3-863D-FBD76C918652}" srcOrd="0" destOrd="0" presId="urn:microsoft.com/office/officeart/2018/2/layout/IconVerticalSolidList"/>
    <dgm:cxn modelId="{27CC3327-1041-4F1C-94A4-0BEF083404B8}" type="presParOf" srcId="{DF2ED51D-7F6F-4B7B-8B33-651026A73C3D}" destId="{51C139B5-8BB1-4402-8E0D-CC998433E7DA}" srcOrd="1" destOrd="0" presId="urn:microsoft.com/office/officeart/2018/2/layout/IconVerticalSolidList"/>
    <dgm:cxn modelId="{567DE963-3199-4FE6-A5EB-D57315D85314}" type="presParOf" srcId="{DF2ED51D-7F6F-4B7B-8B33-651026A73C3D}" destId="{D9B95CD0-0F5B-4C81-8119-03510514072D}" srcOrd="2" destOrd="0" presId="urn:microsoft.com/office/officeart/2018/2/layout/IconVerticalSolidList"/>
    <dgm:cxn modelId="{77A9BFAA-586B-4327-9910-A6FD329A2CBA}" type="presParOf" srcId="{DF2ED51D-7F6F-4B7B-8B33-651026A73C3D}" destId="{9CDBEA4A-54AA-42AD-8769-8761945A33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7EA0C-3688-4B6E-A19F-9C6A63F60BF5}">
      <dsp:nvSpPr>
        <dsp:cNvPr id="0" name=""/>
        <dsp:cNvSpPr/>
      </dsp:nvSpPr>
      <dsp:spPr>
        <a:xfrm>
          <a:off x="2803" y="693742"/>
          <a:ext cx="2224249" cy="1334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Frontend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React 18, Vite, Tailwind CSS for responsive UI and fast development</a:t>
          </a:r>
          <a:endParaRPr lang="en-US" sz="1400" kern="1200"/>
        </a:p>
      </dsp:txBody>
      <dsp:txXfrm>
        <a:off x="2803" y="693742"/>
        <a:ext cx="2224249" cy="1334549"/>
      </dsp:txXfrm>
    </dsp:sp>
    <dsp:sp modelId="{01B5D471-A34B-4AFE-9A0C-866E1A1A21C2}">
      <dsp:nvSpPr>
        <dsp:cNvPr id="0" name=""/>
        <dsp:cNvSpPr/>
      </dsp:nvSpPr>
      <dsp:spPr>
        <a:xfrm>
          <a:off x="2449478" y="693742"/>
          <a:ext cx="2224249" cy="1334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Backend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Java 17, Spring Boot 3 for REST APIs and business logic</a:t>
          </a:r>
          <a:endParaRPr lang="en-US" sz="1400" kern="1200"/>
        </a:p>
      </dsp:txBody>
      <dsp:txXfrm>
        <a:off x="2449478" y="693742"/>
        <a:ext cx="2224249" cy="1334549"/>
      </dsp:txXfrm>
    </dsp:sp>
    <dsp:sp modelId="{005B1980-E97D-4B7F-AB64-4E368150D3DD}">
      <dsp:nvSpPr>
        <dsp:cNvPr id="0" name=""/>
        <dsp:cNvSpPr/>
      </dsp:nvSpPr>
      <dsp:spPr>
        <a:xfrm>
          <a:off x="4896153" y="693742"/>
          <a:ext cx="2224249" cy="1334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Database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PostgreSQL for secure and scalable data storage</a:t>
          </a:r>
          <a:endParaRPr lang="en-US" sz="1400" kern="1200"/>
        </a:p>
      </dsp:txBody>
      <dsp:txXfrm>
        <a:off x="4896153" y="693742"/>
        <a:ext cx="2224249" cy="1334549"/>
      </dsp:txXfrm>
    </dsp:sp>
    <dsp:sp modelId="{7D1B6C44-BB23-442F-B10F-BBD018A53AAB}">
      <dsp:nvSpPr>
        <dsp:cNvPr id="0" name=""/>
        <dsp:cNvSpPr/>
      </dsp:nvSpPr>
      <dsp:spPr>
        <a:xfrm>
          <a:off x="7342828" y="693742"/>
          <a:ext cx="2224249" cy="1334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Authentication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JWT (stateless) + Spring Security for secure user access</a:t>
          </a:r>
          <a:endParaRPr lang="en-US" sz="1400" kern="1200"/>
        </a:p>
      </dsp:txBody>
      <dsp:txXfrm>
        <a:off x="7342828" y="693742"/>
        <a:ext cx="2224249" cy="1334549"/>
      </dsp:txXfrm>
    </dsp:sp>
    <dsp:sp modelId="{3AC4FE57-CFF2-4519-B011-D1012B82CE85}">
      <dsp:nvSpPr>
        <dsp:cNvPr id="0" name=""/>
        <dsp:cNvSpPr/>
      </dsp:nvSpPr>
      <dsp:spPr>
        <a:xfrm>
          <a:off x="1226141" y="2250716"/>
          <a:ext cx="2224249" cy="1334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API Communication</a:t>
          </a:r>
          <a:endParaRPr lang="en-U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Axios for handling HTTP requests between frontend and backend</a:t>
          </a:r>
          <a:endParaRPr lang="en-US" sz="1400" kern="1200"/>
        </a:p>
      </dsp:txBody>
      <dsp:txXfrm>
        <a:off x="1226141" y="2250716"/>
        <a:ext cx="2224249" cy="1334549"/>
      </dsp:txXfrm>
    </dsp:sp>
    <dsp:sp modelId="{BE93B584-1F23-4B8F-8956-0C89916C0C90}">
      <dsp:nvSpPr>
        <dsp:cNvPr id="0" name=""/>
        <dsp:cNvSpPr/>
      </dsp:nvSpPr>
      <dsp:spPr>
        <a:xfrm>
          <a:off x="3672816" y="2250716"/>
          <a:ext cx="2224249" cy="1334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Data Visualization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 dirty="0"/>
            <a:t>Recharts for dashboard graphs and financial insights</a:t>
          </a:r>
          <a:endParaRPr lang="en-US" sz="1400" kern="1200" dirty="0"/>
        </a:p>
      </dsp:txBody>
      <dsp:txXfrm>
        <a:off x="3672816" y="2250716"/>
        <a:ext cx="2224249" cy="1334549"/>
      </dsp:txXfrm>
    </dsp:sp>
    <dsp:sp modelId="{6509236C-67DA-4D70-98B8-E4CC2F4EF188}">
      <dsp:nvSpPr>
        <dsp:cNvPr id="0" name=""/>
        <dsp:cNvSpPr/>
      </dsp:nvSpPr>
      <dsp:spPr>
        <a:xfrm>
          <a:off x="6119490" y="2250716"/>
          <a:ext cx="2224249" cy="1334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AI Integration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OpenAI API for intelligent financial advice and recommendations</a:t>
          </a:r>
          <a:endParaRPr lang="en-US" sz="1400" kern="1200"/>
        </a:p>
      </dsp:txBody>
      <dsp:txXfrm>
        <a:off x="6119490" y="2250716"/>
        <a:ext cx="2224249" cy="13345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18E0E3-4377-454E-AC1A-9394094BEA6A}">
      <dsp:nvSpPr>
        <dsp:cNvPr id="0" name=""/>
        <dsp:cNvSpPr/>
      </dsp:nvSpPr>
      <dsp:spPr>
        <a:xfrm>
          <a:off x="0" y="1409"/>
          <a:ext cx="10515600" cy="600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BF67BF-8B9D-4E4B-B864-B8266BAAC827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69524-0F01-41FA-8773-8F15786EC5DE}">
      <dsp:nvSpPr>
        <dsp:cNvPr id="0" name=""/>
        <dsp:cNvSpPr/>
      </dsp:nvSpPr>
      <dsp:spPr>
        <a:xfrm>
          <a:off x="693749" y="1409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Built a full-stack Financial Management System for students </a:t>
          </a:r>
          <a:endParaRPr lang="en-US" sz="1900" kern="1200"/>
        </a:p>
      </dsp:txBody>
      <dsp:txXfrm>
        <a:off x="693749" y="1409"/>
        <a:ext cx="9821850" cy="600648"/>
      </dsp:txXfrm>
    </dsp:sp>
    <dsp:sp modelId="{D76BF944-2566-420D-8EB5-B58C7AD16CED}">
      <dsp:nvSpPr>
        <dsp:cNvPr id="0" name=""/>
        <dsp:cNvSpPr/>
      </dsp:nvSpPr>
      <dsp:spPr>
        <a:xfrm>
          <a:off x="0" y="752220"/>
          <a:ext cx="10515600" cy="600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BA184C-7CFD-464D-B2B4-E292DF720969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7753A-AF85-4ED2-B864-AE5BEBA193FF}">
      <dsp:nvSpPr>
        <dsp:cNvPr id="0" name=""/>
        <dsp:cNvSpPr/>
      </dsp:nvSpPr>
      <dsp:spPr>
        <a:xfrm>
          <a:off x="693749" y="752220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Implemented key features: income/expense tracking, dashboard, prediction, and AI advisor </a:t>
          </a:r>
          <a:endParaRPr lang="en-US" sz="1900" kern="1200"/>
        </a:p>
      </dsp:txBody>
      <dsp:txXfrm>
        <a:off x="693749" y="752220"/>
        <a:ext cx="9821850" cy="600648"/>
      </dsp:txXfrm>
    </dsp:sp>
    <dsp:sp modelId="{27390541-3E12-4321-A431-08FA3126FA17}">
      <dsp:nvSpPr>
        <dsp:cNvPr id="0" name=""/>
        <dsp:cNvSpPr/>
      </dsp:nvSpPr>
      <dsp:spPr>
        <a:xfrm>
          <a:off x="0" y="1503031"/>
          <a:ext cx="10515600" cy="600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468C0-4E59-442D-8164-0BBA4FD7E496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DFFF3-2D2E-49EE-9833-7D3BE5FBF22A}">
      <dsp:nvSpPr>
        <dsp:cNvPr id="0" name=""/>
        <dsp:cNvSpPr/>
      </dsp:nvSpPr>
      <dsp:spPr>
        <a:xfrm>
          <a:off x="693749" y="1503031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Ensured secure, user-specific access using JWT authentication </a:t>
          </a:r>
          <a:endParaRPr lang="en-US" sz="1900" kern="1200"/>
        </a:p>
      </dsp:txBody>
      <dsp:txXfrm>
        <a:off x="693749" y="1503031"/>
        <a:ext cx="9821850" cy="600648"/>
      </dsp:txXfrm>
    </dsp:sp>
    <dsp:sp modelId="{4793677E-0AA0-43B7-B2A9-1D09D5921774}">
      <dsp:nvSpPr>
        <dsp:cNvPr id="0" name=""/>
        <dsp:cNvSpPr/>
      </dsp:nvSpPr>
      <dsp:spPr>
        <a:xfrm>
          <a:off x="0" y="2253843"/>
          <a:ext cx="10515600" cy="600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E1748-90B5-4FCF-80E0-846AE4248F18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1003E-0F72-43AA-9837-3111C3AEA53B}">
      <dsp:nvSpPr>
        <dsp:cNvPr id="0" name=""/>
        <dsp:cNvSpPr/>
      </dsp:nvSpPr>
      <dsp:spPr>
        <a:xfrm>
          <a:off x="693749" y="2253843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Provides meaningful financial insights and supports better decision-making </a:t>
          </a:r>
          <a:endParaRPr lang="en-US" sz="1900" kern="1200"/>
        </a:p>
      </dsp:txBody>
      <dsp:txXfrm>
        <a:off x="693749" y="2253843"/>
        <a:ext cx="9821850" cy="600648"/>
      </dsp:txXfrm>
    </dsp:sp>
    <dsp:sp modelId="{AE645BCF-CB9E-429A-A14F-E886E8AA883A}">
      <dsp:nvSpPr>
        <dsp:cNvPr id="0" name=""/>
        <dsp:cNvSpPr/>
      </dsp:nvSpPr>
      <dsp:spPr>
        <a:xfrm>
          <a:off x="0" y="3004654"/>
          <a:ext cx="10515600" cy="600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9227CE-491A-4A7C-BECE-5813BE2FFF03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E2A0D-BB98-45AD-A17D-50A784A44DAE}">
      <dsp:nvSpPr>
        <dsp:cNvPr id="0" name=""/>
        <dsp:cNvSpPr/>
      </dsp:nvSpPr>
      <dsp:spPr>
        <a:xfrm>
          <a:off x="693749" y="3004654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Combines analytics, simulation, and AI for real-world usability </a:t>
          </a:r>
          <a:endParaRPr lang="en-US" sz="1900" kern="1200"/>
        </a:p>
      </dsp:txBody>
      <dsp:txXfrm>
        <a:off x="693749" y="3004654"/>
        <a:ext cx="9821850" cy="600648"/>
      </dsp:txXfrm>
    </dsp:sp>
    <dsp:sp modelId="{110AF416-D01E-46D3-863D-FBD76C918652}">
      <dsp:nvSpPr>
        <dsp:cNvPr id="0" name=""/>
        <dsp:cNvSpPr/>
      </dsp:nvSpPr>
      <dsp:spPr>
        <a:xfrm>
          <a:off x="0" y="3755465"/>
          <a:ext cx="10515600" cy="600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139B5-8BB1-4402-8E0D-CC998433E7DA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BEA4A-54AA-42AD-8769-8761945A33AC}">
      <dsp:nvSpPr>
        <dsp:cNvPr id="0" name=""/>
        <dsp:cNvSpPr/>
      </dsp:nvSpPr>
      <dsp:spPr>
        <a:xfrm>
          <a:off x="693749" y="3755465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Designed with scalability, security, and future enhancements in mind </a:t>
          </a:r>
          <a:endParaRPr lang="en-US" sz="1900" kern="1200"/>
        </a:p>
      </dsp:txBody>
      <dsp:txXfrm>
        <a:off x="693749" y="3755465"/>
        <a:ext cx="9821850" cy="600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25E8D-765F-47D3-ACA3-39BB755C934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D3D12-BDAD-4FBB-A56C-085086DB8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D3D12-BDAD-4FBB-A56C-085086DB8D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44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D3D12-BDAD-4FBB-A56C-085086DB8D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3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D3D12-BDAD-4FBB-A56C-085086DB8D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40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D3D12-BDAD-4FBB-A56C-085086DB8D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78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1D3D12-BDAD-4FBB-A56C-085086DB8D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40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27F11-0D41-E14C-11C3-5621FD83E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63C27A-2437-D15C-CE79-4F93B8B0F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C26FF-D571-C7DE-8ED4-EBA0E406C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9D6DC-E1CB-4874-BF52-C3407230D20E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59AA5-DA86-611C-33AE-F41187FE3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4F484-C4A0-6FEA-DD41-D6BD1660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291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2DD5-D139-AC3F-C0D7-8EB16CEF5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1294-960D-B84A-B111-DA31C0FD5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52A0D-7D5F-E69F-D295-CC356020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FF683-6236-67D3-7DFF-0DC815B7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964D3-99D5-5419-70AE-C61ABB68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2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ADD8-08AA-DDAC-3C5E-1017ADC2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0A230-6B76-2A07-A3A8-2D2C04284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054CB-5844-5C0F-6164-D7EE3D76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CBD2C-8D24-70AE-75FB-C1CD2246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AC659-EB63-BCE3-16EF-FCB90A2E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0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759B-C529-58AF-E6E4-BB2BBC19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3367D-D733-E358-23AE-0B5A10DC8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8FDEB-9E00-F356-668B-32E696586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45D17-574B-BF5E-BCD2-50FB1B38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EF4BF-A6B5-2291-69A4-31F5680B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35E61E-CF2C-D391-D910-5F0C123A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47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7527C-8023-40C8-6A25-FBA7C745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9CE15-4982-21F5-B0BC-8B57381AB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711F3-9D30-AF0F-68CE-2A05F5C07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38DF40-DF8E-A8C4-407C-A094F8FDF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D5788-D723-9267-0D6B-F8721248D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9CB00-AADE-7FE5-950C-66AF5B2DF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B683E-BF93-771A-BA6F-E7048387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62940-D867-26DF-526C-7B80B169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9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800-5711-C5BB-13B5-E7652349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9F8B6-67BA-290E-C83C-1FF93E89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4E1B3-4726-6BA1-4489-E2E4107F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FBCEB-5AD3-1D99-9216-4C28791D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5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865B6-1EAA-5816-E390-3C2475F8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3C24F1-C4FE-B2EA-8AFC-F94DC3D6A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EA08A-8C17-666C-6E09-F72DF83C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2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03CB-933F-7EC1-9AA4-FCE49AAA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52303-94A7-CFB5-8810-0A0306D59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63152-7385-5809-87BC-91233FB5C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EB371-87DA-C052-B406-F291599B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FB790-15F0-5786-8581-E4CC322D5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C4816-EF1B-4549-0D57-0C36FA8A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4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F10C-8CBC-6E9F-297E-C0F65357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71C0E-6F52-7E09-1B6F-69C45A6FF5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752A6-BA80-CE22-C8AC-978FCB598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8250F-108B-7F0D-D907-F1915505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3D1EB-6176-FF92-97F2-88FC6E42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3FF6-5723-8D8C-ADE2-7A585E21E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5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949D-715C-3D01-5B33-93388290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2DCFC-DE22-A5BF-7ABE-4F97AB00A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F0E00-91E3-0BCC-D7C0-2C818369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545B4-7869-5E9E-7A64-48EAB4C9A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AB9A5-C72D-66C1-2745-3E8E49BB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8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FE1CF-99B0-2B17-3AB6-6AD73DF3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B637B-54EB-8550-336D-CF72FA6C9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CC704-D899-DA69-6795-51FF7E19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5F490-2E6C-2510-9727-0EBC7108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B3605-2E88-A05D-251B-BCB334F8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4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49AD6-E118-C434-CB55-517F26EF3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2CD0E-28E1-8140-4673-EFCCA0568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4C0E0-B689-C343-CCD0-96E0C8EE2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4/26/2026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9B9CB-E2F5-8960-EB16-C12B15B77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EE736-C5C0-04A1-C455-E411C5E51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02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9DD69-9717-025C-5AF5-F55B8BD4C517}"/>
              </a:ext>
            </a:extLst>
          </p:cNvPr>
          <p:cNvSpPr txBox="1"/>
          <p:nvPr/>
        </p:nvSpPr>
        <p:spPr>
          <a:xfrm>
            <a:off x="3922451" y="2818185"/>
            <a:ext cx="6671657" cy="16618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Financial Management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System</a:t>
            </a:r>
            <a:endParaRPr lang="en-US" sz="4800" b="1" kern="12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DF95EF-B23F-4792-C0D2-BED55EEF7858}"/>
              </a:ext>
            </a:extLst>
          </p:cNvPr>
          <p:cNvSpPr txBox="1"/>
          <p:nvPr/>
        </p:nvSpPr>
        <p:spPr>
          <a:xfrm>
            <a:off x="4061857" y="5220004"/>
            <a:ext cx="5272643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i="1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Group Members</a:t>
            </a:r>
            <a:r>
              <a:rPr lang="en-US" sz="1800" b="1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solidFill>
                  <a:srgbClr val="FFFFFF"/>
                </a:solidFill>
                <a:latin typeface="Montserrat" pitchFamily="2" charset="0"/>
                <a:ea typeface="ADLaM Display" panose="02010000000000000000" pitchFamily="2" charset="0"/>
                <a:cs typeface="Poppins" panose="00000500000000000000" pitchFamily="2" charset="0"/>
              </a:rPr>
              <a:t>AAKRITI DHAKAL, AGNES JESIONOWSKA,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solidFill>
                  <a:srgbClr val="FFFFFF"/>
                </a:solidFill>
                <a:latin typeface="Montserrat" pitchFamily="2" charset="0"/>
                <a:ea typeface="ADLaM Display" panose="02010000000000000000" pitchFamily="2" charset="0"/>
                <a:cs typeface="Poppins" panose="00000500000000000000" pitchFamily="2" charset="0"/>
              </a:rPr>
              <a:t>MANOJ KHANAL</a:t>
            </a:r>
          </a:p>
        </p:txBody>
      </p:sp>
      <p:grpSp>
        <p:nvGrpSpPr>
          <p:cNvPr id="49" name="Graphic 47" descr="Programmer male with solid fill">
            <a:extLst>
              <a:ext uri="{FF2B5EF4-FFF2-40B4-BE49-F238E27FC236}">
                <a16:creationId xmlns:a16="http://schemas.microsoft.com/office/drawing/2014/main" id="{A5D52A79-BE9D-B08F-2774-B8710C476C20}"/>
              </a:ext>
            </a:extLst>
          </p:cNvPr>
          <p:cNvGrpSpPr/>
          <p:nvPr/>
        </p:nvGrpSpPr>
        <p:grpSpPr>
          <a:xfrm>
            <a:off x="10956106" y="438583"/>
            <a:ext cx="642036" cy="809625"/>
            <a:chOff x="10956106" y="438583"/>
            <a:chExt cx="642036" cy="809625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E0955F7-7E7C-663C-91C0-C88D1BD14D64}"/>
                </a:ext>
              </a:extLst>
            </p:cNvPr>
            <p:cNvSpPr/>
            <p:nvPr/>
          </p:nvSpPr>
          <p:spPr>
            <a:xfrm>
              <a:off x="10956106" y="438583"/>
              <a:ext cx="642036" cy="753427"/>
            </a:xfrm>
            <a:custGeom>
              <a:avLst/>
              <a:gdLst>
                <a:gd name="connsiteX0" fmla="*/ 456750 w 642036"/>
                <a:gd name="connsiteY0" fmla="*/ 434340 h 753427"/>
                <a:gd name="connsiteX1" fmla="*/ 566287 w 642036"/>
                <a:gd name="connsiteY1" fmla="*/ 490538 h 753427"/>
                <a:gd name="connsiteX2" fmla="*/ 587242 w 642036"/>
                <a:gd name="connsiteY2" fmla="*/ 533400 h 753427"/>
                <a:gd name="connsiteX3" fmla="*/ 604387 w 642036"/>
                <a:gd name="connsiteY3" fmla="*/ 681038 h 753427"/>
                <a:gd name="connsiteX4" fmla="*/ 596767 w 642036"/>
                <a:gd name="connsiteY4" fmla="*/ 698183 h 753427"/>
                <a:gd name="connsiteX5" fmla="*/ 596767 w 642036"/>
                <a:gd name="connsiteY5" fmla="*/ 698183 h 753427"/>
                <a:gd name="connsiteX6" fmla="*/ 545332 w 642036"/>
                <a:gd name="connsiteY6" fmla="*/ 722948 h 753427"/>
                <a:gd name="connsiteX7" fmla="*/ 545332 w 642036"/>
                <a:gd name="connsiteY7" fmla="*/ 753428 h 753427"/>
                <a:gd name="connsiteX8" fmla="*/ 571050 w 642036"/>
                <a:gd name="connsiteY8" fmla="*/ 753428 h 753427"/>
                <a:gd name="connsiteX9" fmla="*/ 617722 w 642036"/>
                <a:gd name="connsiteY9" fmla="*/ 729615 h 753427"/>
                <a:gd name="connsiteX10" fmla="*/ 617722 w 642036"/>
                <a:gd name="connsiteY10" fmla="*/ 729615 h 753427"/>
                <a:gd name="connsiteX11" fmla="*/ 641535 w 642036"/>
                <a:gd name="connsiteY11" fmla="*/ 676275 h 753427"/>
                <a:gd name="connsiteX12" fmla="*/ 626295 w 642036"/>
                <a:gd name="connsiteY12" fmla="*/ 532448 h 753427"/>
                <a:gd name="connsiteX13" fmla="*/ 591052 w 642036"/>
                <a:gd name="connsiteY13" fmla="*/ 461963 h 753427"/>
                <a:gd name="connsiteX14" fmla="*/ 470085 w 642036"/>
                <a:gd name="connsiteY14" fmla="*/ 399098 h 753427"/>
                <a:gd name="connsiteX15" fmla="*/ 423412 w 642036"/>
                <a:gd name="connsiteY15" fmla="*/ 380048 h 753427"/>
                <a:gd name="connsiteX16" fmla="*/ 417697 w 642036"/>
                <a:gd name="connsiteY16" fmla="*/ 371475 h 753427"/>
                <a:gd name="connsiteX17" fmla="*/ 417697 w 642036"/>
                <a:gd name="connsiteY17" fmla="*/ 348615 h 753427"/>
                <a:gd name="connsiteX18" fmla="*/ 474847 w 642036"/>
                <a:gd name="connsiteY18" fmla="*/ 229552 h 753427"/>
                <a:gd name="connsiteX19" fmla="*/ 474847 w 642036"/>
                <a:gd name="connsiteY19" fmla="*/ 195263 h 753427"/>
                <a:gd name="connsiteX20" fmla="*/ 493897 w 642036"/>
                <a:gd name="connsiteY20" fmla="*/ 200978 h 753427"/>
                <a:gd name="connsiteX21" fmla="*/ 477705 w 642036"/>
                <a:gd name="connsiteY21" fmla="*/ 153353 h 753427"/>
                <a:gd name="connsiteX22" fmla="*/ 472942 w 642036"/>
                <a:gd name="connsiteY22" fmla="*/ 133350 h 753427"/>
                <a:gd name="connsiteX23" fmla="*/ 388170 w 642036"/>
                <a:gd name="connsiteY23" fmla="*/ 17145 h 753427"/>
                <a:gd name="connsiteX24" fmla="*/ 375787 w 642036"/>
                <a:gd name="connsiteY24" fmla="*/ 18097 h 753427"/>
                <a:gd name="connsiteX25" fmla="*/ 367215 w 642036"/>
                <a:gd name="connsiteY25" fmla="*/ 24765 h 753427"/>
                <a:gd name="connsiteX26" fmla="*/ 357690 w 642036"/>
                <a:gd name="connsiteY26" fmla="*/ 11430 h 753427"/>
                <a:gd name="connsiteX27" fmla="*/ 346260 w 642036"/>
                <a:gd name="connsiteY27" fmla="*/ 2858 h 753427"/>
                <a:gd name="connsiteX28" fmla="*/ 320542 w 642036"/>
                <a:gd name="connsiteY28" fmla="*/ 0 h 753427"/>
                <a:gd name="connsiteX29" fmla="*/ 169095 w 642036"/>
                <a:gd name="connsiteY29" fmla="*/ 136208 h 753427"/>
                <a:gd name="connsiteX30" fmla="*/ 169095 w 642036"/>
                <a:gd name="connsiteY30" fmla="*/ 142875 h 753427"/>
                <a:gd name="connsiteX31" fmla="*/ 169095 w 642036"/>
                <a:gd name="connsiteY31" fmla="*/ 142875 h 753427"/>
                <a:gd name="connsiteX32" fmla="*/ 169095 w 642036"/>
                <a:gd name="connsiteY32" fmla="*/ 159068 h 753427"/>
                <a:gd name="connsiteX33" fmla="*/ 156712 w 642036"/>
                <a:gd name="connsiteY33" fmla="*/ 219075 h 753427"/>
                <a:gd name="connsiteX34" fmla="*/ 140520 w 642036"/>
                <a:gd name="connsiteY34" fmla="*/ 257175 h 753427"/>
                <a:gd name="connsiteX35" fmla="*/ 171000 w 642036"/>
                <a:gd name="connsiteY35" fmla="*/ 248602 h 753427"/>
                <a:gd name="connsiteX36" fmla="*/ 226245 w 642036"/>
                <a:gd name="connsiteY36" fmla="*/ 346710 h 753427"/>
                <a:gd name="connsiteX37" fmla="*/ 226245 w 642036"/>
                <a:gd name="connsiteY37" fmla="*/ 370523 h 753427"/>
                <a:gd name="connsiteX38" fmla="*/ 220530 w 642036"/>
                <a:gd name="connsiteY38" fmla="*/ 379095 h 753427"/>
                <a:gd name="connsiteX39" fmla="*/ 173857 w 642036"/>
                <a:gd name="connsiteY39" fmla="*/ 398145 h 753427"/>
                <a:gd name="connsiteX40" fmla="*/ 52890 w 642036"/>
                <a:gd name="connsiteY40" fmla="*/ 461010 h 753427"/>
                <a:gd name="connsiteX41" fmla="*/ 16695 w 642036"/>
                <a:gd name="connsiteY41" fmla="*/ 531495 h 753427"/>
                <a:gd name="connsiteX42" fmla="*/ 502 w 642036"/>
                <a:gd name="connsiteY42" fmla="*/ 676275 h 753427"/>
                <a:gd name="connsiteX43" fmla="*/ 24315 w 642036"/>
                <a:gd name="connsiteY43" fmla="*/ 729615 h 753427"/>
                <a:gd name="connsiteX44" fmla="*/ 70987 w 642036"/>
                <a:gd name="connsiteY44" fmla="*/ 753428 h 753427"/>
                <a:gd name="connsiteX45" fmla="*/ 97657 w 642036"/>
                <a:gd name="connsiteY45" fmla="*/ 753428 h 753427"/>
                <a:gd name="connsiteX46" fmla="*/ 97657 w 642036"/>
                <a:gd name="connsiteY46" fmla="*/ 723900 h 753427"/>
                <a:gd name="connsiteX47" fmla="*/ 46222 w 642036"/>
                <a:gd name="connsiteY47" fmla="*/ 699135 h 753427"/>
                <a:gd name="connsiteX48" fmla="*/ 38602 w 642036"/>
                <a:gd name="connsiteY48" fmla="*/ 681990 h 753427"/>
                <a:gd name="connsiteX49" fmla="*/ 54795 w 642036"/>
                <a:gd name="connsiteY49" fmla="*/ 535305 h 753427"/>
                <a:gd name="connsiteX50" fmla="*/ 54795 w 642036"/>
                <a:gd name="connsiteY50" fmla="*/ 533400 h 753427"/>
                <a:gd name="connsiteX51" fmla="*/ 76702 w 642036"/>
                <a:gd name="connsiteY51" fmla="*/ 490538 h 753427"/>
                <a:gd name="connsiteX52" fmla="*/ 186240 w 642036"/>
                <a:gd name="connsiteY52" fmla="*/ 434340 h 753427"/>
                <a:gd name="connsiteX53" fmla="*/ 201480 w 642036"/>
                <a:gd name="connsiteY53" fmla="*/ 429578 h 753427"/>
                <a:gd name="connsiteX54" fmla="*/ 321495 w 642036"/>
                <a:gd name="connsiteY54" fmla="*/ 457200 h 753427"/>
                <a:gd name="connsiteX55" fmla="*/ 442462 w 642036"/>
                <a:gd name="connsiteY55" fmla="*/ 429578 h 753427"/>
                <a:gd name="connsiteX56" fmla="*/ 456750 w 642036"/>
                <a:gd name="connsiteY56" fmla="*/ 434340 h 753427"/>
                <a:gd name="connsiteX57" fmla="*/ 207195 w 642036"/>
                <a:gd name="connsiteY57" fmla="*/ 237173 h 753427"/>
                <a:gd name="connsiteX58" fmla="*/ 407220 w 642036"/>
                <a:gd name="connsiteY58" fmla="*/ 123825 h 753427"/>
                <a:gd name="connsiteX59" fmla="*/ 435795 w 642036"/>
                <a:gd name="connsiteY59" fmla="*/ 161925 h 753427"/>
                <a:gd name="connsiteX60" fmla="*/ 435795 w 642036"/>
                <a:gd name="connsiteY60" fmla="*/ 228600 h 753427"/>
                <a:gd name="connsiteX61" fmla="*/ 321495 w 642036"/>
                <a:gd name="connsiteY61" fmla="*/ 342900 h 753427"/>
                <a:gd name="connsiteX62" fmla="*/ 207195 w 642036"/>
                <a:gd name="connsiteY62" fmla="*/ 237173 h 753427"/>
                <a:gd name="connsiteX63" fmla="*/ 245295 w 642036"/>
                <a:gd name="connsiteY63" fmla="*/ 408623 h 753427"/>
                <a:gd name="connsiteX64" fmla="*/ 264345 w 642036"/>
                <a:gd name="connsiteY64" fmla="*/ 370523 h 753427"/>
                <a:gd name="connsiteX65" fmla="*/ 264345 w 642036"/>
                <a:gd name="connsiteY65" fmla="*/ 369570 h 753427"/>
                <a:gd name="connsiteX66" fmla="*/ 378645 w 642036"/>
                <a:gd name="connsiteY66" fmla="*/ 369570 h 753427"/>
                <a:gd name="connsiteX67" fmla="*/ 378645 w 642036"/>
                <a:gd name="connsiteY67" fmla="*/ 370523 h 753427"/>
                <a:gd name="connsiteX68" fmla="*/ 396742 w 642036"/>
                <a:gd name="connsiteY68" fmla="*/ 408623 h 753427"/>
                <a:gd name="connsiteX69" fmla="*/ 320542 w 642036"/>
                <a:gd name="connsiteY69" fmla="*/ 419100 h 753427"/>
                <a:gd name="connsiteX70" fmla="*/ 245295 w 642036"/>
                <a:gd name="connsiteY70" fmla="*/ 408623 h 75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642036" h="753427">
                  <a:moveTo>
                    <a:pt x="456750" y="434340"/>
                  </a:moveTo>
                  <a:cubicBezTo>
                    <a:pt x="496755" y="448628"/>
                    <a:pt x="534855" y="464820"/>
                    <a:pt x="566287" y="490538"/>
                  </a:cubicBezTo>
                  <a:cubicBezTo>
                    <a:pt x="579622" y="501015"/>
                    <a:pt x="587242" y="516255"/>
                    <a:pt x="587242" y="533400"/>
                  </a:cubicBezTo>
                  <a:lnTo>
                    <a:pt x="604387" y="681038"/>
                  </a:lnTo>
                  <a:cubicBezTo>
                    <a:pt x="605340" y="687705"/>
                    <a:pt x="602482" y="694373"/>
                    <a:pt x="596767" y="698183"/>
                  </a:cubicBezTo>
                  <a:lnTo>
                    <a:pt x="596767" y="698183"/>
                  </a:lnTo>
                  <a:cubicBezTo>
                    <a:pt x="580575" y="708660"/>
                    <a:pt x="563430" y="717233"/>
                    <a:pt x="545332" y="722948"/>
                  </a:cubicBezTo>
                  <a:lnTo>
                    <a:pt x="545332" y="753428"/>
                  </a:lnTo>
                  <a:lnTo>
                    <a:pt x="571050" y="753428"/>
                  </a:lnTo>
                  <a:cubicBezTo>
                    <a:pt x="587242" y="746760"/>
                    <a:pt x="603435" y="739140"/>
                    <a:pt x="617722" y="729615"/>
                  </a:cubicBezTo>
                  <a:lnTo>
                    <a:pt x="617722" y="729615"/>
                  </a:lnTo>
                  <a:cubicBezTo>
                    <a:pt x="634867" y="718185"/>
                    <a:pt x="644392" y="697230"/>
                    <a:pt x="641535" y="676275"/>
                  </a:cubicBezTo>
                  <a:lnTo>
                    <a:pt x="626295" y="532448"/>
                  </a:lnTo>
                  <a:cubicBezTo>
                    <a:pt x="625342" y="504825"/>
                    <a:pt x="612960" y="479108"/>
                    <a:pt x="591052" y="461963"/>
                  </a:cubicBezTo>
                  <a:cubicBezTo>
                    <a:pt x="555810" y="432435"/>
                    <a:pt x="513900" y="414338"/>
                    <a:pt x="470085" y="399098"/>
                  </a:cubicBezTo>
                  <a:lnTo>
                    <a:pt x="423412" y="380048"/>
                  </a:lnTo>
                  <a:cubicBezTo>
                    <a:pt x="419602" y="378143"/>
                    <a:pt x="417697" y="375285"/>
                    <a:pt x="417697" y="371475"/>
                  </a:cubicBezTo>
                  <a:lnTo>
                    <a:pt x="417697" y="348615"/>
                  </a:lnTo>
                  <a:cubicBezTo>
                    <a:pt x="453892" y="320040"/>
                    <a:pt x="474847" y="276225"/>
                    <a:pt x="474847" y="229552"/>
                  </a:cubicBezTo>
                  <a:lnTo>
                    <a:pt x="474847" y="195263"/>
                  </a:lnTo>
                  <a:cubicBezTo>
                    <a:pt x="480562" y="199073"/>
                    <a:pt x="487230" y="200025"/>
                    <a:pt x="493897" y="200978"/>
                  </a:cubicBezTo>
                  <a:lnTo>
                    <a:pt x="477705" y="153353"/>
                  </a:lnTo>
                  <a:cubicBezTo>
                    <a:pt x="475800" y="146685"/>
                    <a:pt x="473895" y="140018"/>
                    <a:pt x="472942" y="133350"/>
                  </a:cubicBezTo>
                  <a:cubicBezTo>
                    <a:pt x="465322" y="79057"/>
                    <a:pt x="432937" y="40958"/>
                    <a:pt x="388170" y="17145"/>
                  </a:cubicBezTo>
                  <a:cubicBezTo>
                    <a:pt x="384360" y="15240"/>
                    <a:pt x="379597" y="15240"/>
                    <a:pt x="375787" y="18097"/>
                  </a:cubicBezTo>
                  <a:lnTo>
                    <a:pt x="367215" y="24765"/>
                  </a:lnTo>
                  <a:lnTo>
                    <a:pt x="357690" y="11430"/>
                  </a:lnTo>
                  <a:cubicBezTo>
                    <a:pt x="354832" y="7620"/>
                    <a:pt x="351022" y="3810"/>
                    <a:pt x="346260" y="2858"/>
                  </a:cubicBezTo>
                  <a:cubicBezTo>
                    <a:pt x="337687" y="953"/>
                    <a:pt x="329115" y="0"/>
                    <a:pt x="320542" y="0"/>
                  </a:cubicBezTo>
                  <a:cubicBezTo>
                    <a:pt x="245295" y="0"/>
                    <a:pt x="182430" y="59055"/>
                    <a:pt x="169095" y="136208"/>
                  </a:cubicBezTo>
                  <a:lnTo>
                    <a:pt x="169095" y="142875"/>
                  </a:lnTo>
                  <a:lnTo>
                    <a:pt x="169095" y="142875"/>
                  </a:lnTo>
                  <a:lnTo>
                    <a:pt x="169095" y="159068"/>
                  </a:lnTo>
                  <a:cubicBezTo>
                    <a:pt x="169095" y="180023"/>
                    <a:pt x="165285" y="200025"/>
                    <a:pt x="156712" y="219075"/>
                  </a:cubicBezTo>
                  <a:lnTo>
                    <a:pt x="140520" y="257175"/>
                  </a:lnTo>
                  <a:cubicBezTo>
                    <a:pt x="140520" y="257175"/>
                    <a:pt x="151950" y="254318"/>
                    <a:pt x="171000" y="248602"/>
                  </a:cubicBezTo>
                  <a:cubicBezTo>
                    <a:pt x="175762" y="287655"/>
                    <a:pt x="195765" y="322898"/>
                    <a:pt x="226245" y="346710"/>
                  </a:cubicBezTo>
                  <a:lnTo>
                    <a:pt x="226245" y="370523"/>
                  </a:lnTo>
                  <a:cubicBezTo>
                    <a:pt x="226245" y="374333"/>
                    <a:pt x="224340" y="378143"/>
                    <a:pt x="220530" y="379095"/>
                  </a:cubicBezTo>
                  <a:lnTo>
                    <a:pt x="173857" y="398145"/>
                  </a:lnTo>
                  <a:cubicBezTo>
                    <a:pt x="130042" y="413385"/>
                    <a:pt x="88132" y="431483"/>
                    <a:pt x="52890" y="461010"/>
                  </a:cubicBezTo>
                  <a:cubicBezTo>
                    <a:pt x="30982" y="478155"/>
                    <a:pt x="17647" y="503873"/>
                    <a:pt x="16695" y="531495"/>
                  </a:cubicBezTo>
                  <a:lnTo>
                    <a:pt x="502" y="676275"/>
                  </a:lnTo>
                  <a:cubicBezTo>
                    <a:pt x="-2355" y="697230"/>
                    <a:pt x="7170" y="718185"/>
                    <a:pt x="24315" y="729615"/>
                  </a:cubicBezTo>
                  <a:cubicBezTo>
                    <a:pt x="38602" y="739140"/>
                    <a:pt x="54795" y="746760"/>
                    <a:pt x="70987" y="753428"/>
                  </a:cubicBezTo>
                  <a:lnTo>
                    <a:pt x="97657" y="753428"/>
                  </a:lnTo>
                  <a:lnTo>
                    <a:pt x="97657" y="723900"/>
                  </a:lnTo>
                  <a:cubicBezTo>
                    <a:pt x="79560" y="717233"/>
                    <a:pt x="62415" y="709613"/>
                    <a:pt x="46222" y="699135"/>
                  </a:cubicBezTo>
                  <a:cubicBezTo>
                    <a:pt x="40507" y="695325"/>
                    <a:pt x="37650" y="688658"/>
                    <a:pt x="38602" y="681990"/>
                  </a:cubicBezTo>
                  <a:lnTo>
                    <a:pt x="54795" y="535305"/>
                  </a:lnTo>
                  <a:lnTo>
                    <a:pt x="54795" y="533400"/>
                  </a:lnTo>
                  <a:cubicBezTo>
                    <a:pt x="54795" y="516255"/>
                    <a:pt x="63367" y="501015"/>
                    <a:pt x="76702" y="490538"/>
                  </a:cubicBezTo>
                  <a:cubicBezTo>
                    <a:pt x="108135" y="464820"/>
                    <a:pt x="146235" y="448628"/>
                    <a:pt x="186240" y="434340"/>
                  </a:cubicBezTo>
                  <a:lnTo>
                    <a:pt x="201480" y="429578"/>
                  </a:lnTo>
                  <a:cubicBezTo>
                    <a:pt x="229102" y="446723"/>
                    <a:pt x="272917" y="457200"/>
                    <a:pt x="321495" y="457200"/>
                  </a:cubicBezTo>
                  <a:cubicBezTo>
                    <a:pt x="370072" y="457200"/>
                    <a:pt x="413887" y="446723"/>
                    <a:pt x="442462" y="429578"/>
                  </a:cubicBezTo>
                  <a:lnTo>
                    <a:pt x="456750" y="434340"/>
                  </a:lnTo>
                  <a:close/>
                  <a:moveTo>
                    <a:pt x="207195" y="237173"/>
                  </a:moveTo>
                  <a:cubicBezTo>
                    <a:pt x="271965" y="215265"/>
                    <a:pt x="365310" y="177165"/>
                    <a:pt x="407220" y="123825"/>
                  </a:cubicBezTo>
                  <a:cubicBezTo>
                    <a:pt x="415792" y="137160"/>
                    <a:pt x="425317" y="149543"/>
                    <a:pt x="435795" y="161925"/>
                  </a:cubicBezTo>
                  <a:lnTo>
                    <a:pt x="435795" y="228600"/>
                  </a:lnTo>
                  <a:cubicBezTo>
                    <a:pt x="435795" y="291465"/>
                    <a:pt x="384360" y="342900"/>
                    <a:pt x="321495" y="342900"/>
                  </a:cubicBezTo>
                  <a:cubicBezTo>
                    <a:pt x="261487" y="342900"/>
                    <a:pt x="211957" y="297180"/>
                    <a:pt x="207195" y="237173"/>
                  </a:cubicBezTo>
                  <a:close/>
                  <a:moveTo>
                    <a:pt x="245295" y="408623"/>
                  </a:moveTo>
                  <a:cubicBezTo>
                    <a:pt x="256725" y="400050"/>
                    <a:pt x="264345" y="385763"/>
                    <a:pt x="264345" y="370523"/>
                  </a:cubicBezTo>
                  <a:lnTo>
                    <a:pt x="264345" y="369570"/>
                  </a:lnTo>
                  <a:cubicBezTo>
                    <a:pt x="300540" y="384810"/>
                    <a:pt x="342450" y="384810"/>
                    <a:pt x="378645" y="369570"/>
                  </a:cubicBezTo>
                  <a:lnTo>
                    <a:pt x="378645" y="370523"/>
                  </a:lnTo>
                  <a:cubicBezTo>
                    <a:pt x="378645" y="384810"/>
                    <a:pt x="385312" y="399098"/>
                    <a:pt x="396742" y="408623"/>
                  </a:cubicBezTo>
                  <a:cubicBezTo>
                    <a:pt x="371977" y="416243"/>
                    <a:pt x="346260" y="420053"/>
                    <a:pt x="320542" y="419100"/>
                  </a:cubicBezTo>
                  <a:cubicBezTo>
                    <a:pt x="295777" y="419100"/>
                    <a:pt x="270060" y="415290"/>
                    <a:pt x="245295" y="408623"/>
                  </a:cubicBezTo>
                  <a:close/>
                </a:path>
              </a:pathLst>
            </a:custGeom>
            <a:grpFill/>
            <a:ln w="9525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B4BB573-132E-D7BA-E7B5-9EDD3EDB37E1}"/>
                </a:ext>
              </a:extLst>
            </p:cNvPr>
            <p:cNvSpPr/>
            <p:nvPr/>
          </p:nvSpPr>
          <p:spPr>
            <a:xfrm>
              <a:off x="11000423" y="951027"/>
              <a:ext cx="555307" cy="297180"/>
            </a:xfrm>
            <a:custGeom>
              <a:avLst/>
              <a:gdLst>
                <a:gd name="connsiteX0" fmla="*/ 482918 w 555307"/>
                <a:gd name="connsiteY0" fmla="*/ 23813 h 297180"/>
                <a:gd name="connsiteX1" fmla="*/ 459105 w 555307"/>
                <a:gd name="connsiteY1" fmla="*/ 0 h 297180"/>
                <a:gd name="connsiteX2" fmla="*/ 459105 w 555307"/>
                <a:gd name="connsiteY2" fmla="*/ 0 h 297180"/>
                <a:gd name="connsiteX3" fmla="*/ 96203 w 555307"/>
                <a:gd name="connsiteY3" fmla="*/ 0 h 297180"/>
                <a:gd name="connsiteX4" fmla="*/ 72390 w 555307"/>
                <a:gd name="connsiteY4" fmla="*/ 23813 h 297180"/>
                <a:gd name="connsiteX5" fmla="*/ 72390 w 555307"/>
                <a:gd name="connsiteY5" fmla="*/ 23813 h 297180"/>
                <a:gd name="connsiteX6" fmla="*/ 72390 w 555307"/>
                <a:gd name="connsiteY6" fmla="*/ 260985 h 297180"/>
                <a:gd name="connsiteX7" fmla="*/ 0 w 555307"/>
                <a:gd name="connsiteY7" fmla="*/ 260985 h 297180"/>
                <a:gd name="connsiteX8" fmla="*/ 0 w 555307"/>
                <a:gd name="connsiteY8" fmla="*/ 273368 h 297180"/>
                <a:gd name="connsiteX9" fmla="*/ 23813 w 555307"/>
                <a:gd name="connsiteY9" fmla="*/ 297180 h 297180"/>
                <a:gd name="connsiteX10" fmla="*/ 531495 w 555307"/>
                <a:gd name="connsiteY10" fmla="*/ 297180 h 297180"/>
                <a:gd name="connsiteX11" fmla="*/ 555308 w 555307"/>
                <a:gd name="connsiteY11" fmla="*/ 273368 h 297180"/>
                <a:gd name="connsiteX12" fmla="*/ 555308 w 555307"/>
                <a:gd name="connsiteY12" fmla="*/ 260985 h 297180"/>
                <a:gd name="connsiteX13" fmla="*/ 482918 w 555307"/>
                <a:gd name="connsiteY13" fmla="*/ 260985 h 297180"/>
                <a:gd name="connsiteX14" fmla="*/ 482918 w 555307"/>
                <a:gd name="connsiteY14" fmla="*/ 23813 h 297180"/>
                <a:gd name="connsiteX15" fmla="*/ 227648 w 555307"/>
                <a:gd name="connsiteY15" fmla="*/ 180975 h 297180"/>
                <a:gd name="connsiteX16" fmla="*/ 214313 w 555307"/>
                <a:gd name="connsiteY16" fmla="*/ 194310 h 297180"/>
                <a:gd name="connsiteX17" fmla="*/ 160973 w 555307"/>
                <a:gd name="connsiteY17" fmla="*/ 140970 h 297180"/>
                <a:gd name="connsiteX18" fmla="*/ 214313 w 555307"/>
                <a:gd name="connsiteY18" fmla="*/ 87630 h 297180"/>
                <a:gd name="connsiteX19" fmla="*/ 227648 w 555307"/>
                <a:gd name="connsiteY19" fmla="*/ 100965 h 297180"/>
                <a:gd name="connsiteX20" fmla="*/ 187642 w 555307"/>
                <a:gd name="connsiteY20" fmla="*/ 140970 h 297180"/>
                <a:gd name="connsiteX21" fmla="*/ 227648 w 555307"/>
                <a:gd name="connsiteY21" fmla="*/ 180975 h 297180"/>
                <a:gd name="connsiteX22" fmla="*/ 263843 w 555307"/>
                <a:gd name="connsiteY22" fmla="*/ 200978 h 297180"/>
                <a:gd name="connsiteX23" fmla="*/ 246698 w 555307"/>
                <a:gd name="connsiteY23" fmla="*/ 193358 h 297180"/>
                <a:gd name="connsiteX24" fmla="*/ 291465 w 555307"/>
                <a:gd name="connsiteY24" fmla="*/ 85725 h 297180"/>
                <a:gd name="connsiteX25" fmla="*/ 308610 w 555307"/>
                <a:gd name="connsiteY25" fmla="*/ 93345 h 297180"/>
                <a:gd name="connsiteX26" fmla="*/ 263843 w 555307"/>
                <a:gd name="connsiteY26" fmla="*/ 200978 h 297180"/>
                <a:gd name="connsiteX27" fmla="*/ 340043 w 555307"/>
                <a:gd name="connsiteY27" fmla="*/ 195263 h 297180"/>
                <a:gd name="connsiteX28" fmla="*/ 326708 w 555307"/>
                <a:gd name="connsiteY28" fmla="*/ 181928 h 297180"/>
                <a:gd name="connsiteX29" fmla="*/ 366713 w 555307"/>
                <a:gd name="connsiteY29" fmla="*/ 141922 h 297180"/>
                <a:gd name="connsiteX30" fmla="*/ 326708 w 555307"/>
                <a:gd name="connsiteY30" fmla="*/ 101918 h 297180"/>
                <a:gd name="connsiteX31" fmla="*/ 340043 w 555307"/>
                <a:gd name="connsiteY31" fmla="*/ 88582 h 297180"/>
                <a:gd name="connsiteX32" fmla="*/ 393383 w 555307"/>
                <a:gd name="connsiteY32" fmla="*/ 141922 h 297180"/>
                <a:gd name="connsiteX33" fmla="*/ 340043 w 555307"/>
                <a:gd name="connsiteY33" fmla="*/ 195263 h 297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55307" h="297180">
                  <a:moveTo>
                    <a:pt x="482918" y="23813"/>
                  </a:moveTo>
                  <a:cubicBezTo>
                    <a:pt x="482918" y="10478"/>
                    <a:pt x="472440" y="0"/>
                    <a:pt x="459105" y="0"/>
                  </a:cubicBezTo>
                  <a:lnTo>
                    <a:pt x="459105" y="0"/>
                  </a:lnTo>
                  <a:lnTo>
                    <a:pt x="96203" y="0"/>
                  </a:lnTo>
                  <a:cubicBezTo>
                    <a:pt x="82868" y="0"/>
                    <a:pt x="72390" y="10478"/>
                    <a:pt x="72390" y="23813"/>
                  </a:cubicBezTo>
                  <a:lnTo>
                    <a:pt x="72390" y="23813"/>
                  </a:lnTo>
                  <a:lnTo>
                    <a:pt x="72390" y="260985"/>
                  </a:lnTo>
                  <a:lnTo>
                    <a:pt x="0" y="260985"/>
                  </a:lnTo>
                  <a:lnTo>
                    <a:pt x="0" y="273368"/>
                  </a:lnTo>
                  <a:cubicBezTo>
                    <a:pt x="0" y="286703"/>
                    <a:pt x="10478" y="297180"/>
                    <a:pt x="23813" y="297180"/>
                  </a:cubicBezTo>
                  <a:lnTo>
                    <a:pt x="531495" y="297180"/>
                  </a:lnTo>
                  <a:cubicBezTo>
                    <a:pt x="544830" y="297180"/>
                    <a:pt x="555308" y="286703"/>
                    <a:pt x="555308" y="273368"/>
                  </a:cubicBezTo>
                  <a:lnTo>
                    <a:pt x="555308" y="260985"/>
                  </a:lnTo>
                  <a:lnTo>
                    <a:pt x="482918" y="260985"/>
                  </a:lnTo>
                  <a:lnTo>
                    <a:pt x="482918" y="23813"/>
                  </a:lnTo>
                  <a:close/>
                  <a:moveTo>
                    <a:pt x="227648" y="180975"/>
                  </a:moveTo>
                  <a:lnTo>
                    <a:pt x="214313" y="194310"/>
                  </a:lnTo>
                  <a:lnTo>
                    <a:pt x="160973" y="140970"/>
                  </a:lnTo>
                  <a:lnTo>
                    <a:pt x="214313" y="87630"/>
                  </a:lnTo>
                  <a:lnTo>
                    <a:pt x="227648" y="100965"/>
                  </a:lnTo>
                  <a:lnTo>
                    <a:pt x="187642" y="140970"/>
                  </a:lnTo>
                  <a:lnTo>
                    <a:pt x="227648" y="180975"/>
                  </a:lnTo>
                  <a:close/>
                  <a:moveTo>
                    <a:pt x="263843" y="200978"/>
                  </a:moveTo>
                  <a:lnTo>
                    <a:pt x="246698" y="193358"/>
                  </a:lnTo>
                  <a:lnTo>
                    <a:pt x="291465" y="85725"/>
                  </a:lnTo>
                  <a:lnTo>
                    <a:pt x="308610" y="93345"/>
                  </a:lnTo>
                  <a:lnTo>
                    <a:pt x="263843" y="200978"/>
                  </a:lnTo>
                  <a:close/>
                  <a:moveTo>
                    <a:pt x="340043" y="195263"/>
                  </a:moveTo>
                  <a:lnTo>
                    <a:pt x="326708" y="181928"/>
                  </a:lnTo>
                  <a:lnTo>
                    <a:pt x="366713" y="141922"/>
                  </a:lnTo>
                  <a:lnTo>
                    <a:pt x="326708" y="101918"/>
                  </a:lnTo>
                  <a:lnTo>
                    <a:pt x="340043" y="88582"/>
                  </a:lnTo>
                  <a:lnTo>
                    <a:pt x="393383" y="141922"/>
                  </a:lnTo>
                  <a:lnTo>
                    <a:pt x="340043" y="195263"/>
                  </a:lnTo>
                  <a:close/>
                </a:path>
              </a:pathLst>
            </a:custGeom>
            <a:grpFill/>
            <a:ln w="9525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EDB55CA-F5A8-B9DF-E0EA-22C0D02583D0}"/>
              </a:ext>
            </a:extLst>
          </p:cNvPr>
          <p:cNvSpPr txBox="1"/>
          <p:nvPr/>
        </p:nvSpPr>
        <p:spPr>
          <a:xfrm>
            <a:off x="166255" y="5328399"/>
            <a:ext cx="3030724" cy="853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US" sz="1400" b="1" i="1" dirty="0">
                <a:solidFill>
                  <a:srgbClr val="FFFF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CS 5393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US" sz="14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Advanced Software Engineering Project</a:t>
            </a:r>
            <a:endParaRPr lang="en-US" sz="1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14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0B11D-81D7-4E3E-1E8E-7B0D8473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DD1D9946-847C-57C7-2676-401F62D19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48C1F70-DAE6-B525-37A8-C0A5D40F0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4A0A60B-CBCA-6508-1B41-A79E55BA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057CD1F-BCF3-1914-E3BA-6C8FF188F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133518C-FC77-1BD7-0E1A-2EE3D7A5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23EE28F-1271-A433-FD31-5E4F5340E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7C075D7-34FF-A589-C141-18B59D5A7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EA8CA0-90A0-407F-E3F6-A5274CAE883B}"/>
              </a:ext>
            </a:extLst>
          </p:cNvPr>
          <p:cNvSpPr/>
          <p:nvPr/>
        </p:nvSpPr>
        <p:spPr>
          <a:xfrm>
            <a:off x="5806110" y="2779516"/>
            <a:ext cx="1048200" cy="849908"/>
          </a:xfrm>
          <a:prstGeom prst="ellipse">
            <a:avLst/>
          </a:prstGeom>
          <a:solidFill>
            <a:schemeClr val="accent4"/>
          </a:solidFill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40000"/>
                  <a:lumOff val="60000"/>
                </a:schemeClr>
              </a:solidFill>
              <a:highlight>
                <a:srgbClr val="FFFF00"/>
              </a:highlight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39FB01-7404-DEFB-9ABD-6F8DF8590593}"/>
              </a:ext>
            </a:extLst>
          </p:cNvPr>
          <p:cNvGrpSpPr/>
          <p:nvPr/>
        </p:nvGrpSpPr>
        <p:grpSpPr>
          <a:xfrm>
            <a:off x="5710159" y="2667106"/>
            <a:ext cx="1240102" cy="1074729"/>
            <a:chOff x="6698640" y="1683985"/>
            <a:chExt cx="1240102" cy="1074729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81854D3-BCE3-1D04-35F8-AB1DEC8554E4}"/>
                </a:ext>
              </a:extLst>
            </p:cNvPr>
            <p:cNvSpPr/>
            <p:nvPr/>
          </p:nvSpPr>
          <p:spPr>
            <a:xfrm>
              <a:off x="6698640" y="1683985"/>
              <a:ext cx="1240102" cy="1074729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2" name="Graphic 21" descr="Clipboard Partially Crossed with solid fill">
              <a:extLst>
                <a:ext uri="{FF2B5EF4-FFF2-40B4-BE49-F238E27FC236}">
                  <a16:creationId xmlns:a16="http://schemas.microsoft.com/office/drawing/2014/main" id="{85471080-A865-80FB-CF9F-48F70AC7D0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65425" y="1820147"/>
              <a:ext cx="631346" cy="631346"/>
            </a:xfrm>
            <a:prstGeom prst="rect">
              <a:avLst/>
            </a:prstGeom>
          </p:spPr>
        </p:pic>
      </p:grpSp>
      <p:pic>
        <p:nvPicPr>
          <p:cNvPr id="25" name="Graphic 24" descr="Single gear with solid fill">
            <a:extLst>
              <a:ext uri="{FF2B5EF4-FFF2-40B4-BE49-F238E27FC236}">
                <a16:creationId xmlns:a16="http://schemas.microsoft.com/office/drawing/2014/main" id="{B966C8CC-03AE-4037-13BF-BDB185394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3186" y="2837446"/>
            <a:ext cx="734048" cy="73404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87B7C5DC-F00A-4BA7-A2EA-5F2850B5AAD8}"/>
              </a:ext>
            </a:extLst>
          </p:cNvPr>
          <p:cNvGrpSpPr/>
          <p:nvPr/>
        </p:nvGrpSpPr>
        <p:grpSpPr>
          <a:xfrm>
            <a:off x="5806110" y="2779516"/>
            <a:ext cx="1048200" cy="849908"/>
            <a:chOff x="6554651" y="3833772"/>
            <a:chExt cx="1048200" cy="84990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01499DD-E7DE-1A6F-5C41-96B558EA8C6A}"/>
                </a:ext>
              </a:extLst>
            </p:cNvPr>
            <p:cNvSpPr/>
            <p:nvPr/>
          </p:nvSpPr>
          <p:spPr>
            <a:xfrm>
              <a:off x="6554651" y="3833772"/>
              <a:ext cx="1048200" cy="84990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7" name="Graphic 26" descr="Close with solid fill">
              <a:extLst>
                <a:ext uri="{FF2B5EF4-FFF2-40B4-BE49-F238E27FC236}">
                  <a16:creationId xmlns:a16="http://schemas.microsoft.com/office/drawing/2014/main" id="{B49A6C20-CB89-375D-2699-5F4C69FB1D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22929" y="3971812"/>
              <a:ext cx="530037" cy="530037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B1F3472-90E8-E1D1-4552-03732000223E}"/>
              </a:ext>
            </a:extLst>
          </p:cNvPr>
          <p:cNvGrpSpPr/>
          <p:nvPr/>
        </p:nvGrpSpPr>
        <p:grpSpPr>
          <a:xfrm>
            <a:off x="5806588" y="2717896"/>
            <a:ext cx="1047244" cy="973148"/>
            <a:chOff x="7266003" y="2698098"/>
            <a:chExt cx="1047244" cy="97314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D84701D-B159-1F4B-AF4B-172302E119E7}"/>
                </a:ext>
              </a:extLst>
            </p:cNvPr>
            <p:cNvSpPr/>
            <p:nvPr/>
          </p:nvSpPr>
          <p:spPr>
            <a:xfrm>
              <a:off x="7266003" y="2698098"/>
              <a:ext cx="1047244" cy="97314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9" name="Graphic 28" descr="Checkmark with solid fill">
              <a:extLst>
                <a:ext uri="{FF2B5EF4-FFF2-40B4-BE49-F238E27FC236}">
                  <a16:creationId xmlns:a16="http://schemas.microsoft.com/office/drawing/2014/main" id="{E9224E42-9C3C-5512-46E0-8D599E972B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46895" y="2863575"/>
              <a:ext cx="675380" cy="67538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56A463-8D15-AB53-24DC-277FE0DBB177}"/>
              </a:ext>
            </a:extLst>
          </p:cNvPr>
          <p:cNvGrpSpPr/>
          <p:nvPr/>
        </p:nvGrpSpPr>
        <p:grpSpPr>
          <a:xfrm>
            <a:off x="5806110" y="2777410"/>
            <a:ext cx="1048200" cy="854120"/>
            <a:chOff x="4031309" y="2306617"/>
            <a:chExt cx="1048200" cy="85412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9AB738B-E90E-F6DC-8902-280DD9A3020B}"/>
                </a:ext>
              </a:extLst>
            </p:cNvPr>
            <p:cNvSpPr/>
            <p:nvPr/>
          </p:nvSpPr>
          <p:spPr>
            <a:xfrm>
              <a:off x="4031309" y="2306617"/>
              <a:ext cx="1048200" cy="84990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31" name="Graphic 30" descr="Internet with solid fill">
              <a:extLst>
                <a:ext uri="{FF2B5EF4-FFF2-40B4-BE49-F238E27FC236}">
                  <a16:creationId xmlns:a16="http://schemas.microsoft.com/office/drawing/2014/main" id="{A0811996-F33C-89AA-DF61-B268B88862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65959" y="2373166"/>
              <a:ext cx="787571" cy="78757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ECAF784-13DF-F9FB-BE13-ECCD85E6B639}"/>
              </a:ext>
            </a:extLst>
          </p:cNvPr>
          <p:cNvGrpSpPr/>
          <p:nvPr/>
        </p:nvGrpSpPr>
        <p:grpSpPr>
          <a:xfrm>
            <a:off x="5710159" y="2667106"/>
            <a:ext cx="1240102" cy="1074729"/>
            <a:chOff x="5504365" y="1224945"/>
            <a:chExt cx="1240102" cy="107472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547D764-E656-AE24-AD2C-1AB9B1C81AC0}"/>
                </a:ext>
              </a:extLst>
            </p:cNvPr>
            <p:cNvSpPr/>
            <p:nvPr/>
          </p:nvSpPr>
          <p:spPr>
            <a:xfrm>
              <a:off x="5504365" y="1224945"/>
              <a:ext cx="1240102" cy="1074729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33" name="Graphic 32" descr="Programmer female with solid fill">
              <a:extLst>
                <a:ext uri="{FF2B5EF4-FFF2-40B4-BE49-F238E27FC236}">
                  <a16:creationId xmlns:a16="http://schemas.microsoft.com/office/drawing/2014/main" id="{DE0F1419-C9C8-762F-3A69-CBA4AA4BEE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63221" y="1333207"/>
              <a:ext cx="738895" cy="73889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2AEC96E-0CA3-26B1-0FCD-2922DD0499F8}"/>
              </a:ext>
            </a:extLst>
          </p:cNvPr>
          <p:cNvGrpSpPr/>
          <p:nvPr/>
        </p:nvGrpSpPr>
        <p:grpSpPr>
          <a:xfrm>
            <a:off x="5806110" y="2779516"/>
            <a:ext cx="1048200" cy="849908"/>
            <a:chOff x="5292396" y="4114059"/>
            <a:chExt cx="1048200" cy="84990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023AB1-4F1C-21E3-F951-B2808ACE9531}"/>
                </a:ext>
              </a:extLst>
            </p:cNvPr>
            <p:cNvSpPr/>
            <p:nvPr/>
          </p:nvSpPr>
          <p:spPr>
            <a:xfrm>
              <a:off x="5292396" y="4114059"/>
              <a:ext cx="1048200" cy="84990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39" name="Graphic 38" descr="Internet Of Things with solid fill">
              <a:extLst>
                <a:ext uri="{FF2B5EF4-FFF2-40B4-BE49-F238E27FC236}">
                  <a16:creationId xmlns:a16="http://schemas.microsoft.com/office/drawing/2014/main" id="{906D57E2-BC16-9BCF-8CF7-B943276D72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00232" y="4169447"/>
              <a:ext cx="664804" cy="66480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CBF742B-3357-7779-169A-4A515AB962DE}"/>
              </a:ext>
            </a:extLst>
          </p:cNvPr>
          <p:cNvGrpSpPr/>
          <p:nvPr/>
        </p:nvGrpSpPr>
        <p:grpSpPr>
          <a:xfrm>
            <a:off x="5323305" y="2475524"/>
            <a:ext cx="2013810" cy="1457893"/>
            <a:chOff x="2541599" y="872269"/>
            <a:chExt cx="2013810" cy="145789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272D77-C53F-1C49-9249-97B6268A36B6}"/>
                </a:ext>
              </a:extLst>
            </p:cNvPr>
            <p:cNvSpPr/>
            <p:nvPr/>
          </p:nvSpPr>
          <p:spPr>
            <a:xfrm>
              <a:off x="2541599" y="872269"/>
              <a:ext cx="1969144" cy="145789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93318D5-667A-9467-13FB-E4518FB13D2D}"/>
                </a:ext>
              </a:extLst>
            </p:cNvPr>
            <p:cNvSpPr txBox="1"/>
            <p:nvPr/>
          </p:nvSpPr>
          <p:spPr>
            <a:xfrm>
              <a:off x="2586265" y="1249723"/>
              <a:ext cx="196914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800" dirty="0">
                  <a:solidFill>
                    <a:schemeClr val="tx2"/>
                  </a:solidFill>
                  <a:latin typeface="Georgia" panose="02040502050405020303" pitchFamily="18" charset="0"/>
                </a:rPr>
                <a:t>'Write TESTS first, then CODE'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FAE4AB9-0157-0F91-5BF9-FE3E5791D636}"/>
              </a:ext>
            </a:extLst>
          </p:cNvPr>
          <p:cNvGrpSpPr/>
          <p:nvPr/>
        </p:nvGrpSpPr>
        <p:grpSpPr>
          <a:xfrm>
            <a:off x="5019307" y="2383061"/>
            <a:ext cx="2621806" cy="1642819"/>
            <a:chOff x="7665555" y="554182"/>
            <a:chExt cx="2621806" cy="164281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543ECE7-A6BC-3E1C-CDCB-C09C4921516A}"/>
                </a:ext>
              </a:extLst>
            </p:cNvPr>
            <p:cNvSpPr/>
            <p:nvPr/>
          </p:nvSpPr>
          <p:spPr>
            <a:xfrm>
              <a:off x="7684323" y="554182"/>
              <a:ext cx="2584270" cy="1642819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D55BFCA-E403-1DBC-327A-F5D1DA45A24E}"/>
                </a:ext>
              </a:extLst>
            </p:cNvPr>
            <p:cNvSpPr txBox="1"/>
            <p:nvPr/>
          </p:nvSpPr>
          <p:spPr>
            <a:xfrm>
              <a:off x="7665555" y="905363"/>
              <a:ext cx="262180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Georgia" panose="02040502050405020303" pitchFamily="18" charset="0"/>
                </a:rPr>
                <a:t>Clarifies expectations, better interface design, test-as-contract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F97EF70-5389-1BB7-6613-4CDB3CF8B9DE}"/>
              </a:ext>
            </a:extLst>
          </p:cNvPr>
          <p:cNvGrpSpPr/>
          <p:nvPr/>
        </p:nvGrpSpPr>
        <p:grpSpPr>
          <a:xfrm>
            <a:off x="5265628" y="2479821"/>
            <a:ext cx="2129165" cy="1449299"/>
            <a:chOff x="7770268" y="4310049"/>
            <a:chExt cx="2129165" cy="144929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4CF2ABB-EF25-6938-4F22-745A6BBF5FE1}"/>
                </a:ext>
              </a:extLst>
            </p:cNvPr>
            <p:cNvSpPr/>
            <p:nvPr/>
          </p:nvSpPr>
          <p:spPr>
            <a:xfrm>
              <a:off x="7770268" y="4310049"/>
              <a:ext cx="2129165" cy="14492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2BB86A4-0111-5162-BCC8-D7D5C740BB90}"/>
                </a:ext>
              </a:extLst>
            </p:cNvPr>
            <p:cNvSpPr txBox="1"/>
            <p:nvPr/>
          </p:nvSpPr>
          <p:spPr>
            <a:xfrm>
              <a:off x="7770268" y="4668179"/>
              <a:ext cx="2129165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500" dirty="0">
                  <a:solidFill>
                    <a:schemeClr val="accent3"/>
                  </a:solidFill>
                  <a:latin typeface="Georgia" panose="02040502050405020303" pitchFamily="18" charset="0"/>
                </a:rPr>
                <a:t>Lack of automation tools for TDD-style development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C1E987-99F9-92CC-8B0F-42EA3D891646}"/>
              </a:ext>
            </a:extLst>
          </p:cNvPr>
          <p:cNvGrpSpPr/>
          <p:nvPr/>
        </p:nvGrpSpPr>
        <p:grpSpPr>
          <a:xfrm>
            <a:off x="5300933" y="2446409"/>
            <a:ext cx="2058555" cy="1516123"/>
            <a:chOff x="2373060" y="4338636"/>
            <a:chExt cx="2058555" cy="151612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658130F-E085-F180-1AC7-276ED9C3D9FC}"/>
                </a:ext>
              </a:extLst>
            </p:cNvPr>
            <p:cNvSpPr/>
            <p:nvPr/>
          </p:nvSpPr>
          <p:spPr>
            <a:xfrm>
              <a:off x="2373060" y="4338636"/>
              <a:ext cx="2058555" cy="1516123"/>
            </a:xfrm>
            <a:prstGeom prst="ellipse">
              <a:avLst/>
            </a:prstGeom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A0A08C8-96CC-CA91-4CD7-8ABA5F0DD7E5}"/>
                </a:ext>
              </a:extLst>
            </p:cNvPr>
            <p:cNvSpPr txBox="1"/>
            <p:nvPr/>
          </p:nvSpPr>
          <p:spPr>
            <a:xfrm>
              <a:off x="2373060" y="4650154"/>
              <a:ext cx="1965531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600" dirty="0">
                  <a:solidFill>
                    <a:schemeClr val="bg1"/>
                  </a:solidFill>
                  <a:latin typeface="Georgia" panose="02040502050405020303" pitchFamily="18" charset="0"/>
                </a:rPr>
                <a:t>Automation today focuses on code-first, test-later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3332CA0-80C9-C3AC-2C6E-C933EBFB5A3A}"/>
              </a:ext>
            </a:extLst>
          </p:cNvPr>
          <p:cNvGrpSpPr/>
          <p:nvPr/>
        </p:nvGrpSpPr>
        <p:grpSpPr>
          <a:xfrm>
            <a:off x="4526121" y="1971140"/>
            <a:ext cx="3608179" cy="2466661"/>
            <a:chOff x="4294216" y="1948425"/>
            <a:chExt cx="3608179" cy="2466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82716AE-427A-FEEF-D3F3-1D785AA78AB1}"/>
                </a:ext>
              </a:extLst>
            </p:cNvPr>
            <p:cNvSpPr/>
            <p:nvPr/>
          </p:nvSpPr>
          <p:spPr>
            <a:xfrm>
              <a:off x="4681751" y="1948425"/>
              <a:ext cx="2828497" cy="2466661"/>
            </a:xfrm>
            <a:prstGeom prst="ellipse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5B994A4-F5E7-F961-FA09-E96979723891}"/>
                </a:ext>
              </a:extLst>
            </p:cNvPr>
            <p:cNvSpPr txBox="1"/>
            <p:nvPr/>
          </p:nvSpPr>
          <p:spPr>
            <a:xfrm>
              <a:off x="4294216" y="2467935"/>
              <a:ext cx="3608179" cy="137922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55000" lnSpcReduction="20000"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4800" b="1" kern="1200" dirty="0">
                  <a:solidFill>
                    <a:srgbClr val="FFFF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Financial Management 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4800" b="1" kern="1200" dirty="0">
                  <a:solidFill>
                    <a:srgbClr val="FFFF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600840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5967C-3CB7-C025-DF28-1F5B10F6F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EA407649-D1A6-621B-EDAF-BC59C9767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AEDBFF-9EF0-3C86-8F2A-34DEDA7E7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54FFEF3-79BA-5D0E-A1DA-07502D813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1906F1F-25BE-840B-4887-6D610DBF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9936E61-D796-4218-72AB-11080855F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FA6A891-4F05-E0C0-4E9E-07025DA89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89AF9C-7168-8B5A-2DF4-5F9547D7A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1D4536-7F89-6C3B-5351-768208E09B3C}"/>
              </a:ext>
            </a:extLst>
          </p:cNvPr>
          <p:cNvSpPr/>
          <p:nvPr/>
        </p:nvSpPr>
        <p:spPr>
          <a:xfrm>
            <a:off x="4170515" y="3526607"/>
            <a:ext cx="1048200" cy="849908"/>
          </a:xfrm>
          <a:prstGeom prst="ellipse">
            <a:avLst/>
          </a:prstGeom>
          <a:solidFill>
            <a:schemeClr val="accent4"/>
          </a:solidFill>
          <a:effectLst>
            <a:outerShdw blurRad="50800" dist="38100" dir="5400000" algn="t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>
                  <a:lumMod val="40000"/>
                  <a:lumOff val="60000"/>
                </a:schemeClr>
              </a:solidFill>
              <a:highlight>
                <a:srgbClr val="FFFF00"/>
              </a:highlight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80BDD9-C204-432B-5989-87E20A279CC4}"/>
              </a:ext>
            </a:extLst>
          </p:cNvPr>
          <p:cNvGrpSpPr/>
          <p:nvPr/>
        </p:nvGrpSpPr>
        <p:grpSpPr>
          <a:xfrm>
            <a:off x="6698640" y="1683985"/>
            <a:ext cx="1240102" cy="1074729"/>
            <a:chOff x="6698640" y="1683985"/>
            <a:chExt cx="1240102" cy="1074729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B4F70AD-B11D-C934-CCD3-4F6466185832}"/>
                </a:ext>
              </a:extLst>
            </p:cNvPr>
            <p:cNvSpPr/>
            <p:nvPr/>
          </p:nvSpPr>
          <p:spPr>
            <a:xfrm>
              <a:off x="6698640" y="1683985"/>
              <a:ext cx="1240102" cy="1074729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2" name="Graphic 21" descr="Clipboard Partially Crossed with solid fill">
              <a:extLst>
                <a:ext uri="{FF2B5EF4-FFF2-40B4-BE49-F238E27FC236}">
                  <a16:creationId xmlns:a16="http://schemas.microsoft.com/office/drawing/2014/main" id="{00776C83-D922-1CC0-B3C7-5AD6EC9B25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65425" y="1820147"/>
              <a:ext cx="631346" cy="631346"/>
            </a:xfrm>
            <a:prstGeom prst="rect">
              <a:avLst/>
            </a:prstGeom>
          </p:spPr>
        </p:pic>
      </p:grpSp>
      <p:pic>
        <p:nvPicPr>
          <p:cNvPr id="25" name="Graphic 24" descr="Single gear with solid fill">
            <a:extLst>
              <a:ext uri="{FF2B5EF4-FFF2-40B4-BE49-F238E27FC236}">
                <a16:creationId xmlns:a16="http://schemas.microsoft.com/office/drawing/2014/main" id="{A35263D0-AA56-95D2-0BDB-31B36E699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339" y="3582438"/>
            <a:ext cx="734048" cy="73404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C4FC55C7-5293-5200-FFCD-4475A003A4BE}"/>
              </a:ext>
            </a:extLst>
          </p:cNvPr>
          <p:cNvGrpSpPr/>
          <p:nvPr/>
        </p:nvGrpSpPr>
        <p:grpSpPr>
          <a:xfrm>
            <a:off x="6582357" y="3818271"/>
            <a:ext cx="1048200" cy="849908"/>
            <a:chOff x="6554651" y="3833772"/>
            <a:chExt cx="1048200" cy="84990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E31EAEB-4240-FE8B-B1F5-ADC497755911}"/>
                </a:ext>
              </a:extLst>
            </p:cNvPr>
            <p:cNvSpPr/>
            <p:nvPr/>
          </p:nvSpPr>
          <p:spPr>
            <a:xfrm>
              <a:off x="6554651" y="3833772"/>
              <a:ext cx="1048200" cy="84990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7" name="Graphic 26" descr="Close with solid fill">
              <a:extLst>
                <a:ext uri="{FF2B5EF4-FFF2-40B4-BE49-F238E27FC236}">
                  <a16:creationId xmlns:a16="http://schemas.microsoft.com/office/drawing/2014/main" id="{BCF48907-976C-BEC2-EE04-CC389DE481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22929" y="3971812"/>
              <a:ext cx="530037" cy="530037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2446AB2-72A9-8142-01E8-FAD0554CADF3}"/>
              </a:ext>
            </a:extLst>
          </p:cNvPr>
          <p:cNvGrpSpPr/>
          <p:nvPr/>
        </p:nvGrpSpPr>
        <p:grpSpPr>
          <a:xfrm>
            <a:off x="7211649" y="2766951"/>
            <a:ext cx="1047244" cy="973148"/>
            <a:chOff x="7266003" y="2698098"/>
            <a:chExt cx="1047244" cy="97314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B86C2B4-8A40-70E6-2501-2F76CC013E92}"/>
                </a:ext>
              </a:extLst>
            </p:cNvPr>
            <p:cNvSpPr/>
            <p:nvPr/>
          </p:nvSpPr>
          <p:spPr>
            <a:xfrm>
              <a:off x="7266003" y="2698098"/>
              <a:ext cx="1047244" cy="97314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9" name="Graphic 28" descr="Checkmark with solid fill">
              <a:extLst>
                <a:ext uri="{FF2B5EF4-FFF2-40B4-BE49-F238E27FC236}">
                  <a16:creationId xmlns:a16="http://schemas.microsoft.com/office/drawing/2014/main" id="{25592C0B-AE04-AD2E-C2D4-7D893B3FEF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46895" y="2863575"/>
              <a:ext cx="675380" cy="67538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B7234E3-7005-93BC-778F-87D38197A432}"/>
              </a:ext>
            </a:extLst>
          </p:cNvPr>
          <p:cNvGrpSpPr/>
          <p:nvPr/>
        </p:nvGrpSpPr>
        <p:grpSpPr>
          <a:xfrm>
            <a:off x="4031309" y="2306617"/>
            <a:ext cx="1048200" cy="854120"/>
            <a:chOff x="4031309" y="2306617"/>
            <a:chExt cx="1048200" cy="85412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EB947CB-FE50-B025-B58F-13FF69848744}"/>
                </a:ext>
              </a:extLst>
            </p:cNvPr>
            <p:cNvSpPr/>
            <p:nvPr/>
          </p:nvSpPr>
          <p:spPr>
            <a:xfrm>
              <a:off x="4031309" y="2306617"/>
              <a:ext cx="1048200" cy="84990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31" name="Graphic 30" descr="Internet with solid fill">
              <a:extLst>
                <a:ext uri="{FF2B5EF4-FFF2-40B4-BE49-F238E27FC236}">
                  <a16:creationId xmlns:a16="http://schemas.microsoft.com/office/drawing/2014/main" id="{99684AE1-9C38-E00D-A9B2-3A2A08E1FD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65959" y="2373166"/>
              <a:ext cx="787571" cy="787571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915DD66-0ED7-AA74-4643-3D7B87298E89}"/>
              </a:ext>
            </a:extLst>
          </p:cNvPr>
          <p:cNvGrpSpPr/>
          <p:nvPr/>
        </p:nvGrpSpPr>
        <p:grpSpPr>
          <a:xfrm>
            <a:off x="5504365" y="1224945"/>
            <a:ext cx="1240102" cy="1074729"/>
            <a:chOff x="5504365" y="1224945"/>
            <a:chExt cx="1240102" cy="1074729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3339A31-3BE9-AC7B-A820-CE6B36EDEC44}"/>
                </a:ext>
              </a:extLst>
            </p:cNvPr>
            <p:cNvSpPr/>
            <p:nvPr/>
          </p:nvSpPr>
          <p:spPr>
            <a:xfrm>
              <a:off x="5504365" y="1224945"/>
              <a:ext cx="1240102" cy="1074729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33" name="Graphic 32" descr="Programmer female with solid fill">
              <a:extLst>
                <a:ext uri="{FF2B5EF4-FFF2-40B4-BE49-F238E27FC236}">
                  <a16:creationId xmlns:a16="http://schemas.microsoft.com/office/drawing/2014/main" id="{8B55CEE0-2452-F24D-A53F-8FD2AD9814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63221" y="1333207"/>
              <a:ext cx="738895" cy="738895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9BDDCA1-A2E2-7C7B-1CAC-70F803B0DF60}"/>
              </a:ext>
            </a:extLst>
          </p:cNvPr>
          <p:cNvGrpSpPr/>
          <p:nvPr/>
        </p:nvGrpSpPr>
        <p:grpSpPr>
          <a:xfrm>
            <a:off x="5292396" y="4114059"/>
            <a:ext cx="1048200" cy="849908"/>
            <a:chOff x="5292396" y="4114059"/>
            <a:chExt cx="1048200" cy="84990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DCA728-C8AD-5E9E-1287-8BA6FC939D94}"/>
                </a:ext>
              </a:extLst>
            </p:cNvPr>
            <p:cNvSpPr/>
            <p:nvPr/>
          </p:nvSpPr>
          <p:spPr>
            <a:xfrm>
              <a:off x="5292396" y="4114059"/>
              <a:ext cx="1048200" cy="84990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>
                    <a:lumMod val="40000"/>
                    <a:lumOff val="60000"/>
                  </a:schemeClr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39" name="Graphic 38" descr="Internet Of Things with solid fill">
              <a:extLst>
                <a:ext uri="{FF2B5EF4-FFF2-40B4-BE49-F238E27FC236}">
                  <a16:creationId xmlns:a16="http://schemas.microsoft.com/office/drawing/2014/main" id="{0AC6B9DD-D562-C0DC-FD75-77F8C5A427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00232" y="4169447"/>
              <a:ext cx="664804" cy="664804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3E1020F-4F6E-4853-9B70-CED6757E26DE}"/>
              </a:ext>
            </a:extLst>
          </p:cNvPr>
          <p:cNvGrpSpPr/>
          <p:nvPr/>
        </p:nvGrpSpPr>
        <p:grpSpPr>
          <a:xfrm>
            <a:off x="2541599" y="872269"/>
            <a:ext cx="2013810" cy="1457893"/>
            <a:chOff x="2541599" y="872269"/>
            <a:chExt cx="2013810" cy="145789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4BAB6E5-6918-3B01-9EC2-78A2B38CEEE5}"/>
                </a:ext>
              </a:extLst>
            </p:cNvPr>
            <p:cNvSpPr/>
            <p:nvPr/>
          </p:nvSpPr>
          <p:spPr>
            <a:xfrm>
              <a:off x="2541599" y="872269"/>
              <a:ext cx="1969144" cy="1457893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AA72E33-2A1F-B352-6734-5D8661782FD3}"/>
                </a:ext>
              </a:extLst>
            </p:cNvPr>
            <p:cNvSpPr txBox="1"/>
            <p:nvPr/>
          </p:nvSpPr>
          <p:spPr>
            <a:xfrm>
              <a:off x="2586265" y="1249723"/>
              <a:ext cx="196914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400" i="1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AI-Powered Financial Management System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BE6D4E9-AE1E-1914-6F8D-CA7A14D31DF5}"/>
              </a:ext>
            </a:extLst>
          </p:cNvPr>
          <p:cNvGrpSpPr/>
          <p:nvPr/>
        </p:nvGrpSpPr>
        <p:grpSpPr>
          <a:xfrm>
            <a:off x="7665555" y="554182"/>
            <a:ext cx="2621806" cy="1642819"/>
            <a:chOff x="7665555" y="554182"/>
            <a:chExt cx="2621806" cy="1642819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7A34409-B86F-7465-4B92-B9E501D65EFE}"/>
                </a:ext>
              </a:extLst>
            </p:cNvPr>
            <p:cNvSpPr/>
            <p:nvPr/>
          </p:nvSpPr>
          <p:spPr>
            <a:xfrm>
              <a:off x="7684323" y="554182"/>
              <a:ext cx="2584270" cy="1642819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50E0149-CDC8-030B-CAC8-F08096BC05BA}"/>
                </a:ext>
              </a:extLst>
            </p:cNvPr>
            <p:cNvSpPr txBox="1"/>
            <p:nvPr/>
          </p:nvSpPr>
          <p:spPr>
            <a:xfrm>
              <a:off x="7665555" y="749915"/>
              <a:ext cx="262180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i="1" dirty="0">
                  <a:solidFill>
                    <a:schemeClr val="bg1"/>
                  </a:solidFill>
                </a:rPr>
                <a:t>Provides insights through dashboards, predictions, and AI-driven financial advice</a:t>
              </a:r>
              <a:endParaRPr lang="en-US" sz="1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729398B-B5A8-A150-8EAC-BB99EE8E49C0}"/>
              </a:ext>
            </a:extLst>
          </p:cNvPr>
          <p:cNvGrpSpPr/>
          <p:nvPr/>
        </p:nvGrpSpPr>
        <p:grpSpPr>
          <a:xfrm>
            <a:off x="7770268" y="4310049"/>
            <a:ext cx="2129165" cy="1449299"/>
            <a:chOff x="7770268" y="4310049"/>
            <a:chExt cx="2129165" cy="144929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42E1026-2E2C-B454-3B9A-7598010276D1}"/>
                </a:ext>
              </a:extLst>
            </p:cNvPr>
            <p:cNvSpPr/>
            <p:nvPr/>
          </p:nvSpPr>
          <p:spPr>
            <a:xfrm>
              <a:off x="7770268" y="4310049"/>
              <a:ext cx="2129165" cy="14492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191A123-57D4-B781-A328-13AAA45847D8}"/>
                </a:ext>
              </a:extLst>
            </p:cNvPr>
            <p:cNvSpPr txBox="1"/>
            <p:nvPr/>
          </p:nvSpPr>
          <p:spPr>
            <a:xfrm>
              <a:off x="7770268" y="4668179"/>
              <a:ext cx="212916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400" i="1" dirty="0"/>
                <a:t>Students struggle to track finances, plan tuition, and understand spending patterns</a:t>
              </a:r>
              <a:endParaRPr lang="en-US" sz="1400" i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7C8062E-6F5E-6154-5C37-96C192818CF5}"/>
              </a:ext>
            </a:extLst>
          </p:cNvPr>
          <p:cNvGrpSpPr/>
          <p:nvPr/>
        </p:nvGrpSpPr>
        <p:grpSpPr>
          <a:xfrm>
            <a:off x="2373060" y="4338636"/>
            <a:ext cx="2058555" cy="1516123"/>
            <a:chOff x="2373060" y="4338636"/>
            <a:chExt cx="2058555" cy="151612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B6AE9A-5AA3-5DF5-2058-5CBE00C53C37}"/>
                </a:ext>
              </a:extLst>
            </p:cNvPr>
            <p:cNvSpPr/>
            <p:nvPr/>
          </p:nvSpPr>
          <p:spPr>
            <a:xfrm>
              <a:off x="2373060" y="4338636"/>
              <a:ext cx="2058555" cy="1516123"/>
            </a:xfrm>
            <a:prstGeom prst="ellipse">
              <a:avLst/>
            </a:prstGeom>
            <a:effectLst>
              <a:outerShdw blurRad="50800" dist="38100" dir="5400000" algn="t" rotWithShape="0">
                <a:schemeClr val="accent1">
                  <a:lumMod val="60000"/>
                  <a:lumOff val="4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E67372C-9AD3-A5F2-3C06-9A2DFE2E807D}"/>
                </a:ext>
              </a:extLst>
            </p:cNvPr>
            <p:cNvSpPr txBox="1"/>
            <p:nvPr/>
          </p:nvSpPr>
          <p:spPr>
            <a:xfrm>
              <a:off x="2373060" y="4650154"/>
              <a:ext cx="1965531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400" i="1" dirty="0">
                  <a:solidFill>
                    <a:schemeClr val="bg1"/>
                  </a:solidFill>
                </a:rPr>
                <a:t>Students struggle to track finances, plan tuition, and understand spending patterns</a:t>
              </a:r>
              <a:endParaRPr lang="en-US" sz="1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C7B71FF-34B5-AA87-7CF3-3F1DD06E8080}"/>
              </a:ext>
            </a:extLst>
          </p:cNvPr>
          <p:cNvGrpSpPr/>
          <p:nvPr/>
        </p:nvGrpSpPr>
        <p:grpSpPr>
          <a:xfrm>
            <a:off x="4294216" y="1948425"/>
            <a:ext cx="3608179" cy="2466661"/>
            <a:chOff x="4294216" y="1948425"/>
            <a:chExt cx="3608179" cy="246666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1BD0EA6-0BA2-6055-DE3B-EBF48E1B278B}"/>
                </a:ext>
              </a:extLst>
            </p:cNvPr>
            <p:cNvSpPr/>
            <p:nvPr/>
          </p:nvSpPr>
          <p:spPr>
            <a:xfrm>
              <a:off x="4681751" y="1948425"/>
              <a:ext cx="2828497" cy="2466661"/>
            </a:xfrm>
            <a:prstGeom prst="ellipse">
              <a:avLst/>
            </a:prstGeom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943B29A-3207-2C7B-09C7-A3A97767A4D7}"/>
                </a:ext>
              </a:extLst>
            </p:cNvPr>
            <p:cNvSpPr txBox="1"/>
            <p:nvPr/>
          </p:nvSpPr>
          <p:spPr>
            <a:xfrm>
              <a:off x="4294216" y="2467935"/>
              <a:ext cx="3608179" cy="137922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55000" lnSpcReduction="20000"/>
            </a:bodyPr>
            <a:lstStyle/>
            <a:p>
              <a:pPr algn="ctr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4800" b="1" kern="1200" dirty="0">
                  <a:solidFill>
                    <a:srgbClr val="FFFF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Financial Management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4800" b="1" kern="1200" dirty="0">
                  <a:solidFill>
                    <a:srgbClr val="FFFF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701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29087-DDEA-607F-DAB1-B10B15BD2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D6CC786A-3639-D993-475E-FACFE7910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0F918BA-4EBB-3578-034F-A65C5EC01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FA10E8F-0100-7DB0-C463-25EDE0B15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D370C32-0506-4C95-A05D-6F5C84F8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FE6F0EA5-A16C-D682-4467-76B158C31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454C3E8-426F-DAC5-B471-3DA51CF08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425623C-B30E-8806-0676-2FCAA5F19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250D5-811E-D632-CDF6-3A2D678C4A4B}"/>
              </a:ext>
            </a:extLst>
          </p:cNvPr>
          <p:cNvSpPr txBox="1"/>
          <p:nvPr/>
        </p:nvSpPr>
        <p:spPr>
          <a:xfrm>
            <a:off x="2261424" y="30003"/>
            <a:ext cx="7378700" cy="1041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DEVELOPMENT CYCLE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A03BA79-526D-1831-7AFA-A7F8CAA43F56}"/>
              </a:ext>
            </a:extLst>
          </p:cNvPr>
          <p:cNvGrpSpPr/>
          <p:nvPr/>
        </p:nvGrpSpPr>
        <p:grpSpPr>
          <a:xfrm>
            <a:off x="1662691" y="1399059"/>
            <a:ext cx="8735253" cy="4671540"/>
            <a:chOff x="2159557" y="1399818"/>
            <a:chExt cx="8238386" cy="450120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2D636A8-4768-9C7A-C1DB-3A50F3960B46}"/>
                </a:ext>
              </a:extLst>
            </p:cNvPr>
            <p:cNvSpPr txBox="1"/>
            <p:nvPr/>
          </p:nvSpPr>
          <p:spPr>
            <a:xfrm rot="20891485">
              <a:off x="7607522" y="1399818"/>
              <a:ext cx="1961768" cy="622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Requirement Analysis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1526114-A5F9-1392-73F0-D8DD60EDCFB2}"/>
                </a:ext>
              </a:extLst>
            </p:cNvPr>
            <p:cNvSpPr txBox="1"/>
            <p:nvPr/>
          </p:nvSpPr>
          <p:spPr>
            <a:xfrm rot="20300658">
              <a:off x="3307481" y="1664453"/>
              <a:ext cx="1644338" cy="622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Deployment &amp; Feedback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ea typeface="ＭＳ Ｐゴシック"/>
                <a:cs typeface="Poppins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8417391-F847-0D1D-662F-B87FDF8E969F}"/>
                </a:ext>
              </a:extLst>
            </p:cNvPr>
            <p:cNvSpPr txBox="1"/>
            <p:nvPr/>
          </p:nvSpPr>
          <p:spPr>
            <a:xfrm>
              <a:off x="8352350" y="2991764"/>
              <a:ext cx="2045593" cy="355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System Design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03BE70-CC0F-2D13-79AF-D127748F2F72}"/>
                </a:ext>
              </a:extLst>
            </p:cNvPr>
            <p:cNvSpPr txBox="1"/>
            <p:nvPr/>
          </p:nvSpPr>
          <p:spPr>
            <a:xfrm rot="1611469">
              <a:off x="7396982" y="5040003"/>
              <a:ext cx="1965626" cy="622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UI/UX</a:t>
              </a:r>
            </a:p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Design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99904A-B45F-5B61-DB54-4F516C7E62EB}"/>
                </a:ext>
              </a:extLst>
            </p:cNvPr>
            <p:cNvSpPr txBox="1"/>
            <p:nvPr/>
          </p:nvSpPr>
          <p:spPr>
            <a:xfrm rot="20587884">
              <a:off x="2159557" y="3713934"/>
              <a:ext cx="2044174" cy="622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Testing &amp;</a:t>
              </a:r>
            </a:p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Implementation</a:t>
              </a:r>
              <a:endParaRPr lang="en-US" dirty="0">
                <a:solidFill>
                  <a:schemeClr val="bg1"/>
                </a:solidFill>
                <a:latin typeface="Poppins" panose="00000500000000000000" pitchFamily="2" charset="0"/>
                <a:ea typeface="ＭＳ Ｐゴシック"/>
                <a:cs typeface="Poppins" panose="000005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304F01-080A-C4B1-A563-E4D8A3597A80}"/>
                </a:ext>
              </a:extLst>
            </p:cNvPr>
            <p:cNvSpPr txBox="1"/>
            <p:nvPr/>
          </p:nvSpPr>
          <p:spPr>
            <a:xfrm rot="20982691">
              <a:off x="3055625" y="5254694"/>
              <a:ext cx="2379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Code </a:t>
              </a:r>
            </a:p>
            <a:p>
              <a:pPr algn="ctr"/>
              <a:r>
                <a:rPr lang="en-US" b="1" dirty="0">
                  <a:solidFill>
                    <a:schemeClr val="bg1"/>
                  </a:solidFill>
                  <a:latin typeface="Poppins" panose="00000500000000000000" pitchFamily="2" charset="0"/>
                  <a:ea typeface="ＭＳ Ｐゴシック"/>
                  <a:cs typeface="Poppins" panose="00000500000000000000" pitchFamily="2" charset="0"/>
                </a:rPr>
                <a:t>Implementation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A82316-63A9-F51F-C1DE-FC898EAFE261}"/>
                </a:ext>
              </a:extLst>
            </p:cNvPr>
            <p:cNvGrpSpPr/>
            <p:nvPr/>
          </p:nvGrpSpPr>
          <p:grpSpPr>
            <a:xfrm rot="21114775">
              <a:off x="4181734" y="1419841"/>
              <a:ext cx="4223392" cy="4199311"/>
              <a:chOff x="4181734" y="1419841"/>
              <a:chExt cx="4223392" cy="4199311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DFC67C10-1367-D56E-D3CA-A20B45740BA9}"/>
                  </a:ext>
                </a:extLst>
              </p:cNvPr>
              <p:cNvGrpSpPr/>
              <p:nvPr/>
            </p:nvGrpSpPr>
            <p:grpSpPr>
              <a:xfrm>
                <a:off x="4181734" y="1419841"/>
                <a:ext cx="4223392" cy="4199311"/>
                <a:chOff x="4956710" y="1021431"/>
                <a:chExt cx="3437990" cy="3437990"/>
              </a:xfrm>
            </p:grpSpPr>
            <p:sp>
              <p:nvSpPr>
                <p:cNvPr id="18" name="Freeform 93">
                  <a:extLst>
                    <a:ext uri="{FF2B5EF4-FFF2-40B4-BE49-F238E27FC236}">
                      <a16:creationId xmlns:a16="http://schemas.microsoft.com/office/drawing/2014/main" id="{423D34D4-332E-0D01-0C68-8A195E47FB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1977" y="1021431"/>
                  <a:ext cx="1673037" cy="1220712"/>
                </a:xfrm>
                <a:custGeom>
                  <a:avLst/>
                  <a:gdLst>
                    <a:gd name="T0" fmla="*/ 0 w 877"/>
                    <a:gd name="T1" fmla="*/ 420 h 640"/>
                    <a:gd name="T2" fmla="*/ 249 w 877"/>
                    <a:gd name="T3" fmla="*/ 418 h 640"/>
                    <a:gd name="T4" fmla="*/ 375 w 877"/>
                    <a:gd name="T5" fmla="*/ 640 h 640"/>
                    <a:gd name="T6" fmla="*/ 749 w 877"/>
                    <a:gd name="T7" fmla="*/ 434 h 640"/>
                    <a:gd name="T8" fmla="*/ 877 w 877"/>
                    <a:gd name="T9" fmla="*/ 216 h 640"/>
                    <a:gd name="T10" fmla="*/ 750 w 877"/>
                    <a:gd name="T11" fmla="*/ 0 h 640"/>
                    <a:gd name="T12" fmla="*/ 0 w 877"/>
                    <a:gd name="T13" fmla="*/ 420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77" h="640">
                      <a:moveTo>
                        <a:pt x="0" y="420"/>
                      </a:moveTo>
                      <a:cubicBezTo>
                        <a:pt x="249" y="418"/>
                        <a:pt x="249" y="418"/>
                        <a:pt x="249" y="418"/>
                      </a:cubicBezTo>
                      <a:cubicBezTo>
                        <a:pt x="375" y="640"/>
                        <a:pt x="375" y="640"/>
                        <a:pt x="375" y="640"/>
                      </a:cubicBezTo>
                      <a:cubicBezTo>
                        <a:pt x="459" y="516"/>
                        <a:pt x="598" y="438"/>
                        <a:pt x="749" y="434"/>
                      </a:cubicBezTo>
                      <a:cubicBezTo>
                        <a:pt x="877" y="216"/>
                        <a:pt x="877" y="216"/>
                        <a:pt x="877" y="216"/>
                      </a:cubicBezTo>
                      <a:cubicBezTo>
                        <a:pt x="750" y="0"/>
                        <a:pt x="750" y="0"/>
                        <a:pt x="750" y="0"/>
                      </a:cubicBezTo>
                      <a:cubicBezTo>
                        <a:pt x="446" y="4"/>
                        <a:pt x="162" y="164"/>
                        <a:pt x="0" y="420"/>
                      </a:cubicBezTo>
                      <a:close/>
                    </a:path>
                  </a:pathLst>
                </a:custGeom>
                <a:solidFill>
                  <a:srgbClr val="40404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Roboto Condensed Light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19" name="Freeform 94">
                  <a:extLst>
                    <a:ext uri="{FF2B5EF4-FFF2-40B4-BE49-F238E27FC236}">
                      <a16:creationId xmlns:a16="http://schemas.microsoft.com/office/drawing/2014/main" id="{36EDE374-2B86-CD01-66B7-ACD2202924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36983" y="1023043"/>
                  <a:ext cx="1415026" cy="1253770"/>
                </a:xfrm>
                <a:custGeom>
                  <a:avLst/>
                  <a:gdLst>
                    <a:gd name="T0" fmla="*/ 3 w 742"/>
                    <a:gd name="T1" fmla="*/ 0 h 657"/>
                    <a:gd name="T2" fmla="*/ 129 w 742"/>
                    <a:gd name="T3" fmla="*/ 215 h 657"/>
                    <a:gd name="T4" fmla="*/ 0 w 742"/>
                    <a:gd name="T5" fmla="*/ 434 h 657"/>
                    <a:gd name="T6" fmla="*/ 365 w 742"/>
                    <a:gd name="T7" fmla="*/ 655 h 657"/>
                    <a:gd name="T8" fmla="*/ 619 w 742"/>
                    <a:gd name="T9" fmla="*/ 657 h 657"/>
                    <a:gd name="T10" fmla="*/ 742 w 742"/>
                    <a:gd name="T11" fmla="*/ 440 h 657"/>
                    <a:gd name="T12" fmla="*/ 3 w 742"/>
                    <a:gd name="T13" fmla="*/ 0 h 6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42" h="657">
                      <a:moveTo>
                        <a:pt x="3" y="0"/>
                      </a:moveTo>
                      <a:cubicBezTo>
                        <a:pt x="129" y="215"/>
                        <a:pt x="129" y="215"/>
                        <a:pt x="129" y="215"/>
                      </a:cubicBezTo>
                      <a:cubicBezTo>
                        <a:pt x="0" y="434"/>
                        <a:pt x="0" y="434"/>
                        <a:pt x="0" y="434"/>
                      </a:cubicBezTo>
                      <a:cubicBezTo>
                        <a:pt x="150" y="445"/>
                        <a:pt x="286" y="527"/>
                        <a:pt x="365" y="655"/>
                      </a:cubicBezTo>
                      <a:cubicBezTo>
                        <a:pt x="619" y="657"/>
                        <a:pt x="619" y="657"/>
                        <a:pt x="619" y="657"/>
                      </a:cubicBezTo>
                      <a:cubicBezTo>
                        <a:pt x="742" y="440"/>
                        <a:pt x="742" y="440"/>
                        <a:pt x="742" y="440"/>
                      </a:cubicBezTo>
                      <a:cubicBezTo>
                        <a:pt x="586" y="178"/>
                        <a:pt x="306" y="12"/>
                        <a:pt x="3" y="0"/>
                      </a:cubicBezTo>
                      <a:close/>
                    </a:path>
                  </a:pathLst>
                </a:custGeom>
                <a:solidFill>
                  <a:srgbClr val="00539B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Roboto Condensed Light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0" name="Freeform 95">
                  <a:extLst>
                    <a:ext uri="{FF2B5EF4-FFF2-40B4-BE49-F238E27FC236}">
                      <a16:creationId xmlns:a16="http://schemas.microsoft.com/office/drawing/2014/main" id="{BDA1E25B-E7B9-3B01-03B3-BD8C3FC38D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456396" y="3238709"/>
                  <a:ext cx="1673037" cy="1220712"/>
                </a:xfrm>
                <a:custGeom>
                  <a:avLst/>
                  <a:gdLst>
                    <a:gd name="T0" fmla="*/ 502 w 877"/>
                    <a:gd name="T1" fmla="*/ 0 h 640"/>
                    <a:gd name="T2" fmla="*/ 128 w 877"/>
                    <a:gd name="T3" fmla="*/ 206 h 640"/>
                    <a:gd name="T4" fmla="*/ 0 w 877"/>
                    <a:gd name="T5" fmla="*/ 424 h 640"/>
                    <a:gd name="T6" fmla="*/ 126 w 877"/>
                    <a:gd name="T7" fmla="*/ 640 h 640"/>
                    <a:gd name="T8" fmla="*/ 877 w 877"/>
                    <a:gd name="T9" fmla="*/ 220 h 640"/>
                    <a:gd name="T10" fmla="*/ 628 w 877"/>
                    <a:gd name="T11" fmla="*/ 222 h 640"/>
                    <a:gd name="T12" fmla="*/ 502 w 877"/>
                    <a:gd name="T13" fmla="*/ 0 h 6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77" h="640">
                      <a:moveTo>
                        <a:pt x="502" y="0"/>
                      </a:moveTo>
                      <a:cubicBezTo>
                        <a:pt x="418" y="124"/>
                        <a:pt x="278" y="202"/>
                        <a:pt x="128" y="206"/>
                      </a:cubicBezTo>
                      <a:cubicBezTo>
                        <a:pt x="0" y="424"/>
                        <a:pt x="0" y="424"/>
                        <a:pt x="0" y="424"/>
                      </a:cubicBezTo>
                      <a:cubicBezTo>
                        <a:pt x="126" y="640"/>
                        <a:pt x="126" y="640"/>
                        <a:pt x="126" y="640"/>
                      </a:cubicBezTo>
                      <a:cubicBezTo>
                        <a:pt x="431" y="636"/>
                        <a:pt x="714" y="477"/>
                        <a:pt x="877" y="220"/>
                      </a:cubicBezTo>
                      <a:cubicBezTo>
                        <a:pt x="628" y="222"/>
                        <a:pt x="628" y="222"/>
                        <a:pt x="628" y="222"/>
                      </a:cubicBezTo>
                      <a:lnTo>
                        <a:pt x="502" y="0"/>
                      </a:lnTo>
                      <a:close/>
                    </a:path>
                  </a:pathLst>
                </a:custGeom>
                <a:solidFill>
                  <a:srgbClr val="FBB04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Roboto Condensed Light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1" name="Freeform 96">
                  <a:extLst>
                    <a:ext uri="{FF2B5EF4-FFF2-40B4-BE49-F238E27FC236}">
                      <a16:creationId xmlns:a16="http://schemas.microsoft.com/office/drawing/2014/main" id="{9380A591-15A9-7A1B-7A81-FBCC69AC6D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9412" y="1938981"/>
                  <a:ext cx="935288" cy="1644817"/>
                </a:xfrm>
                <a:custGeom>
                  <a:avLst/>
                  <a:gdLst>
                    <a:gd name="T0" fmla="*/ 375 w 490"/>
                    <a:gd name="T1" fmla="*/ 861 h 862"/>
                    <a:gd name="T2" fmla="*/ 490 w 490"/>
                    <a:gd name="T3" fmla="*/ 420 h 862"/>
                    <a:gd name="T4" fmla="*/ 386 w 490"/>
                    <a:gd name="T5" fmla="*/ 0 h 862"/>
                    <a:gd name="T6" fmla="*/ 263 w 490"/>
                    <a:gd name="T7" fmla="*/ 217 h 862"/>
                    <a:gd name="T8" fmla="*/ 9 w 490"/>
                    <a:gd name="T9" fmla="*/ 215 h 862"/>
                    <a:gd name="T10" fmla="*/ 56 w 490"/>
                    <a:gd name="T11" fmla="*/ 420 h 862"/>
                    <a:gd name="T12" fmla="*/ 0 w 490"/>
                    <a:gd name="T13" fmla="*/ 642 h 862"/>
                    <a:gd name="T14" fmla="*/ 125 w 490"/>
                    <a:gd name="T15" fmla="*/ 862 h 862"/>
                    <a:gd name="T16" fmla="*/ 375 w 490"/>
                    <a:gd name="T17" fmla="*/ 861 h 8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0" h="862">
                      <a:moveTo>
                        <a:pt x="375" y="861"/>
                      </a:moveTo>
                      <a:cubicBezTo>
                        <a:pt x="450" y="727"/>
                        <a:pt x="490" y="575"/>
                        <a:pt x="490" y="420"/>
                      </a:cubicBezTo>
                      <a:cubicBezTo>
                        <a:pt x="490" y="273"/>
                        <a:pt x="454" y="129"/>
                        <a:pt x="386" y="0"/>
                      </a:cubicBezTo>
                      <a:cubicBezTo>
                        <a:pt x="263" y="217"/>
                        <a:pt x="263" y="217"/>
                        <a:pt x="263" y="217"/>
                      </a:cubicBezTo>
                      <a:cubicBezTo>
                        <a:pt x="9" y="215"/>
                        <a:pt x="9" y="215"/>
                        <a:pt x="9" y="215"/>
                      </a:cubicBezTo>
                      <a:cubicBezTo>
                        <a:pt x="39" y="279"/>
                        <a:pt x="56" y="349"/>
                        <a:pt x="56" y="420"/>
                      </a:cubicBezTo>
                      <a:cubicBezTo>
                        <a:pt x="56" y="498"/>
                        <a:pt x="36" y="574"/>
                        <a:pt x="0" y="642"/>
                      </a:cubicBezTo>
                      <a:cubicBezTo>
                        <a:pt x="125" y="862"/>
                        <a:pt x="125" y="862"/>
                        <a:pt x="125" y="862"/>
                      </a:cubicBezTo>
                      <a:lnTo>
                        <a:pt x="375" y="861"/>
                      </a:lnTo>
                      <a:close/>
                    </a:path>
                  </a:pathLst>
                </a:custGeom>
                <a:solidFill>
                  <a:srgbClr val="6CADDF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Roboto Condensed Light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2" name="Freeform 97">
                  <a:extLst>
                    <a:ext uri="{FF2B5EF4-FFF2-40B4-BE49-F238E27FC236}">
                      <a16:creationId xmlns:a16="http://schemas.microsoft.com/office/drawing/2014/main" id="{A7517DC0-A9A9-AB65-EB43-A74ABEAA02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56710" y="1897054"/>
                  <a:ext cx="934482" cy="1644817"/>
                </a:xfrm>
                <a:custGeom>
                  <a:avLst/>
                  <a:gdLst>
                    <a:gd name="T0" fmla="*/ 115 w 490"/>
                    <a:gd name="T1" fmla="*/ 2 h 862"/>
                    <a:gd name="T2" fmla="*/ 0 w 490"/>
                    <a:gd name="T3" fmla="*/ 442 h 862"/>
                    <a:gd name="T4" fmla="*/ 103 w 490"/>
                    <a:gd name="T5" fmla="*/ 862 h 862"/>
                    <a:gd name="T6" fmla="*/ 226 w 490"/>
                    <a:gd name="T7" fmla="*/ 645 h 862"/>
                    <a:gd name="T8" fmla="*/ 481 w 490"/>
                    <a:gd name="T9" fmla="*/ 647 h 862"/>
                    <a:gd name="T10" fmla="*/ 434 w 490"/>
                    <a:gd name="T11" fmla="*/ 442 h 862"/>
                    <a:gd name="T12" fmla="*/ 490 w 490"/>
                    <a:gd name="T13" fmla="*/ 220 h 862"/>
                    <a:gd name="T14" fmla="*/ 365 w 490"/>
                    <a:gd name="T15" fmla="*/ 0 h 862"/>
                    <a:gd name="T16" fmla="*/ 115 w 490"/>
                    <a:gd name="T17" fmla="*/ 2 h 8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90" h="862">
                      <a:moveTo>
                        <a:pt x="115" y="2"/>
                      </a:moveTo>
                      <a:cubicBezTo>
                        <a:pt x="40" y="135"/>
                        <a:pt x="0" y="288"/>
                        <a:pt x="0" y="442"/>
                      </a:cubicBezTo>
                      <a:cubicBezTo>
                        <a:pt x="0" y="589"/>
                        <a:pt x="36" y="733"/>
                        <a:pt x="103" y="862"/>
                      </a:cubicBezTo>
                      <a:cubicBezTo>
                        <a:pt x="226" y="645"/>
                        <a:pt x="226" y="645"/>
                        <a:pt x="226" y="645"/>
                      </a:cubicBezTo>
                      <a:cubicBezTo>
                        <a:pt x="481" y="647"/>
                        <a:pt x="481" y="647"/>
                        <a:pt x="481" y="647"/>
                      </a:cubicBezTo>
                      <a:cubicBezTo>
                        <a:pt x="450" y="583"/>
                        <a:pt x="434" y="513"/>
                        <a:pt x="434" y="442"/>
                      </a:cubicBezTo>
                      <a:cubicBezTo>
                        <a:pt x="434" y="364"/>
                        <a:pt x="453" y="288"/>
                        <a:pt x="490" y="220"/>
                      </a:cubicBezTo>
                      <a:cubicBezTo>
                        <a:pt x="365" y="0"/>
                        <a:pt x="365" y="0"/>
                        <a:pt x="365" y="0"/>
                      </a:cubicBezTo>
                      <a:lnTo>
                        <a:pt x="115" y="2"/>
                      </a:lnTo>
                      <a:close/>
                    </a:path>
                  </a:pathLst>
                </a:custGeom>
                <a:solidFill>
                  <a:srgbClr val="5F8F2C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Roboto Condensed Light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3" name="Freeform 98">
                  <a:extLst>
                    <a:ext uri="{FF2B5EF4-FFF2-40B4-BE49-F238E27FC236}">
                      <a16:creationId xmlns:a16="http://schemas.microsoft.com/office/drawing/2014/main" id="{EE99A96E-15D9-1458-D357-38C1251764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96982" y="3204039"/>
                  <a:ext cx="1415833" cy="1253770"/>
                </a:xfrm>
                <a:custGeom>
                  <a:avLst/>
                  <a:gdLst>
                    <a:gd name="T0" fmla="*/ 739 w 742"/>
                    <a:gd name="T1" fmla="*/ 657 h 657"/>
                    <a:gd name="T2" fmla="*/ 613 w 742"/>
                    <a:gd name="T3" fmla="*/ 442 h 657"/>
                    <a:gd name="T4" fmla="*/ 742 w 742"/>
                    <a:gd name="T5" fmla="*/ 223 h 657"/>
                    <a:gd name="T6" fmla="*/ 377 w 742"/>
                    <a:gd name="T7" fmla="*/ 2 h 657"/>
                    <a:gd name="T8" fmla="*/ 124 w 742"/>
                    <a:gd name="T9" fmla="*/ 0 h 657"/>
                    <a:gd name="T10" fmla="*/ 0 w 742"/>
                    <a:gd name="T11" fmla="*/ 217 h 657"/>
                    <a:gd name="T12" fmla="*/ 739 w 742"/>
                    <a:gd name="T13" fmla="*/ 657 h 6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42" h="657">
                      <a:moveTo>
                        <a:pt x="739" y="657"/>
                      </a:moveTo>
                      <a:cubicBezTo>
                        <a:pt x="613" y="442"/>
                        <a:pt x="613" y="442"/>
                        <a:pt x="613" y="442"/>
                      </a:cubicBezTo>
                      <a:cubicBezTo>
                        <a:pt x="742" y="223"/>
                        <a:pt x="742" y="223"/>
                        <a:pt x="742" y="223"/>
                      </a:cubicBezTo>
                      <a:cubicBezTo>
                        <a:pt x="593" y="212"/>
                        <a:pt x="456" y="130"/>
                        <a:pt x="377" y="2"/>
                      </a:cubicBezTo>
                      <a:cubicBezTo>
                        <a:pt x="124" y="0"/>
                        <a:pt x="124" y="0"/>
                        <a:pt x="124" y="0"/>
                      </a:cubicBezTo>
                      <a:cubicBezTo>
                        <a:pt x="0" y="217"/>
                        <a:pt x="0" y="217"/>
                        <a:pt x="0" y="217"/>
                      </a:cubicBezTo>
                      <a:cubicBezTo>
                        <a:pt x="156" y="479"/>
                        <a:pt x="436" y="645"/>
                        <a:pt x="739" y="657"/>
                      </a:cubicBezTo>
                      <a:close/>
                    </a:path>
                  </a:pathLst>
                </a:custGeom>
                <a:solidFill>
                  <a:srgbClr val="D9531E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Roboto Condensed Light" pitchFamily="2" charset="0"/>
                    <a:cs typeface="Poppins" panose="00000500000000000000" pitchFamily="2" charset="0"/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49AA6AA-2CB6-F9CE-20C5-24E7112BB76A}"/>
                    </a:ext>
                  </a:extLst>
                </p:cNvPr>
                <p:cNvSpPr/>
                <p:nvPr/>
              </p:nvSpPr>
              <p:spPr>
                <a:xfrm>
                  <a:off x="7569160" y="2544558"/>
                  <a:ext cx="760979" cy="760979"/>
                </a:xfrm>
                <a:prstGeom prst="rect">
                  <a:avLst/>
                </a:prstGeom>
                <a:noFill/>
                <a:ln w="25400" cap="flat" cmpd="sng" algn="ctr">
                  <a:noFill/>
                  <a:prstDash val="solid"/>
                </a:ln>
                <a:effectLst/>
              </p:spPr>
              <p:txBody>
                <a:bodyPr spcFirstLastPara="0" vert="horz" wrap="square" lIns="124143" tIns="124143" rIns="124143" bIns="124143" numCol="1" spcCol="1270" anchor="ctr" anchorCtr="0">
                  <a:noAutofit/>
                </a:bodyPr>
                <a:lstStyle/>
                <a:p>
                  <a:pPr marL="0" marR="0" lvl="0" indent="0" algn="ctr" defTabSz="444500" eaLnBrk="1" fontAlgn="auto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Poppins" panose="00000500000000000000" pitchFamily="2" charset="0"/>
                    <a:ea typeface="Roboto Condensed Light" pitchFamily="2" charset="0"/>
                    <a:cs typeface="Poppins" panose="00000500000000000000" pitchFamily="2" charset="0"/>
                  </a:endParaRPr>
                </a:p>
              </p:txBody>
            </p:sp>
          </p:grpSp>
          <p:pic>
            <p:nvPicPr>
              <p:cNvPr id="12" name="Graphic 11" descr="Clipboard Partially Crossed with solid fill">
                <a:extLst>
                  <a:ext uri="{FF2B5EF4-FFF2-40B4-BE49-F238E27FC236}">
                    <a16:creationId xmlns:a16="http://schemas.microsoft.com/office/drawing/2014/main" id="{D136B782-A225-D6EF-EBE7-BB0A6EB0AB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858010" y="1874098"/>
                <a:ext cx="661521" cy="661521"/>
              </a:xfrm>
              <a:prstGeom prst="rect">
                <a:avLst/>
              </a:prstGeom>
            </p:spPr>
          </p:pic>
          <p:pic>
            <p:nvPicPr>
              <p:cNvPr id="13" name="Graphic 12" descr="Lightbulb with solid fill">
                <a:extLst>
                  <a:ext uri="{FF2B5EF4-FFF2-40B4-BE49-F238E27FC236}">
                    <a16:creationId xmlns:a16="http://schemas.microsoft.com/office/drawing/2014/main" id="{C5E6243F-20BE-B079-61E4-084A7981E1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475360" y="3354707"/>
                <a:ext cx="744590" cy="744590"/>
              </a:xfrm>
              <a:prstGeom prst="rect">
                <a:avLst/>
              </a:prstGeom>
            </p:spPr>
          </p:pic>
          <p:pic>
            <p:nvPicPr>
              <p:cNvPr id="14" name="Graphic 13" descr="Ui Ux with solid fill">
                <a:extLst>
                  <a:ext uri="{FF2B5EF4-FFF2-40B4-BE49-F238E27FC236}">
                    <a16:creationId xmlns:a16="http://schemas.microsoft.com/office/drawing/2014/main" id="{69745B95-6873-2D54-448F-C5143F3B50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627523" y="4641700"/>
                <a:ext cx="679449" cy="679449"/>
              </a:xfrm>
              <a:prstGeom prst="rect">
                <a:avLst/>
              </a:prstGeom>
            </p:spPr>
          </p:pic>
          <p:pic>
            <p:nvPicPr>
              <p:cNvPr id="15" name="Graphic 14" descr="Programmer female outline">
                <a:extLst>
                  <a:ext uri="{FF2B5EF4-FFF2-40B4-BE49-F238E27FC236}">
                    <a16:creationId xmlns:a16="http://schemas.microsoft.com/office/drawing/2014/main" id="{3775EF20-D546-B946-72E6-2B8CC0274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041144" y="4447000"/>
                <a:ext cx="622297" cy="622297"/>
              </a:xfrm>
              <a:prstGeom prst="rect">
                <a:avLst/>
              </a:prstGeom>
            </p:spPr>
          </p:pic>
          <p:pic>
            <p:nvPicPr>
              <p:cNvPr id="16" name="Graphic 15" descr="Checklist with solid fill">
                <a:extLst>
                  <a:ext uri="{FF2B5EF4-FFF2-40B4-BE49-F238E27FC236}">
                    <a16:creationId xmlns:a16="http://schemas.microsoft.com/office/drawing/2014/main" id="{AD1EA1F1-53FE-8C24-4978-B3E78744FB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364745" y="3027631"/>
                <a:ext cx="624986" cy="624986"/>
              </a:xfrm>
              <a:prstGeom prst="rect">
                <a:avLst/>
              </a:prstGeom>
            </p:spPr>
          </p:pic>
          <p:pic>
            <p:nvPicPr>
              <p:cNvPr id="17" name="Graphic 16" descr="Single gear with solid fill">
                <a:extLst>
                  <a:ext uri="{FF2B5EF4-FFF2-40B4-BE49-F238E27FC236}">
                    <a16:creationId xmlns:a16="http://schemas.microsoft.com/office/drawing/2014/main" id="{B175BE33-1305-3F46-F7A3-EFD46941AD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283265" y="1752359"/>
                <a:ext cx="668471" cy="66847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3786414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3F468-8BDA-FDDC-9CF9-846DA57E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6A95812E-105F-E31C-8850-8A25E875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1A1EA2-15D8-941A-97BA-90B9657A1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240C587-F3DA-6B37-54FD-9340B6676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F36A5E4-83DD-C04E-152E-04FAA51AA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DBA17E5-05C1-2833-6A81-583E852D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855C825-2D95-8D03-B351-CFE4845B4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974C721-D6EB-11FD-5A33-D5D8317E0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1BD7F6-A087-4619-53D7-AB5F47760FDF}"/>
              </a:ext>
            </a:extLst>
          </p:cNvPr>
          <p:cNvSpPr txBox="1"/>
          <p:nvPr/>
        </p:nvSpPr>
        <p:spPr>
          <a:xfrm>
            <a:off x="2187533" y="314451"/>
            <a:ext cx="7378700" cy="1041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TECH STACK</a:t>
            </a:r>
          </a:p>
        </p:txBody>
      </p:sp>
      <p:graphicFrame>
        <p:nvGraphicFramePr>
          <p:cNvPr id="69" name="TextBox 24">
            <a:extLst>
              <a:ext uri="{FF2B5EF4-FFF2-40B4-BE49-F238E27FC236}">
                <a16:creationId xmlns:a16="http://schemas.microsoft.com/office/drawing/2014/main" id="{3A8D1E78-F6B6-60F6-2BFC-6FCA2528AB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2152330"/>
              </p:ext>
            </p:extLst>
          </p:nvPr>
        </p:nvGraphicFramePr>
        <p:xfrm>
          <a:off x="1311059" y="1380278"/>
          <a:ext cx="9569882" cy="4279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6" name="Graphic 25" descr="Robot">
            <a:extLst>
              <a:ext uri="{FF2B5EF4-FFF2-40B4-BE49-F238E27FC236}">
                <a16:creationId xmlns:a16="http://schemas.microsoft.com/office/drawing/2014/main" id="{F85B1FC9-5CEA-67F7-FA56-268A2E2DF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88369" y="4710645"/>
            <a:ext cx="1534154" cy="153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41293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30889-88DA-C78A-3D11-6CEB26A9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FA54BAE7-D233-6D2E-B1B0-8468976F5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A17BF47-AA65-0AF2-B663-14AE019AA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86385C-4EA5-2906-D02F-B1299D104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A77352-62F7-0DBF-E962-77C1A034B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FCFC880-BA87-1A58-7507-5DEFE0BEB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34353A1-87D1-1A1F-F596-584436672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799CEE4-10C1-A54C-8B69-CD841521F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A6B27-2B9E-3DD6-0E77-23B0D129A283}"/>
              </a:ext>
            </a:extLst>
          </p:cNvPr>
          <p:cNvSpPr txBox="1"/>
          <p:nvPr/>
        </p:nvSpPr>
        <p:spPr>
          <a:xfrm>
            <a:off x="2063751" y="450461"/>
            <a:ext cx="8064499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MVC ARCHITECTURE</a:t>
            </a:r>
            <a:endParaRPr lang="en-US" sz="4000" b="1" kern="12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0610EC-FDE2-13A1-85E0-6E8B07C4D8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24" y="2617051"/>
            <a:ext cx="10515600" cy="242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71499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3C67A-8591-3A42-524F-BAA7B9E7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BF8BF0EE-6794-A3CE-A374-45CB829C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E53FB05-B19B-F180-1E5D-90E74537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6A579B-F62D-17C7-27CF-753529569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D5BF3BB-0806-BB92-88F9-995F7EDB1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2A7FDDF-D318-3011-7656-A8A18F56B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62A39A-117F-88B2-E7C3-9EBC8A0AC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884F086-E497-C629-B547-691ED907E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1954D-7152-8999-5609-D13176D5C2B7}"/>
              </a:ext>
            </a:extLst>
          </p:cNvPr>
          <p:cNvSpPr txBox="1"/>
          <p:nvPr/>
        </p:nvSpPr>
        <p:spPr>
          <a:xfrm>
            <a:off x="1737360" y="429013"/>
            <a:ext cx="8051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CORE FEATURES</a:t>
            </a:r>
            <a:endParaRPr lang="en-US" sz="40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1790AF-E5E7-2703-D2EC-0B2AC1C77D13}"/>
              </a:ext>
            </a:extLst>
          </p:cNvPr>
          <p:cNvGrpSpPr/>
          <p:nvPr/>
        </p:nvGrpSpPr>
        <p:grpSpPr>
          <a:xfrm>
            <a:off x="457708" y="1364340"/>
            <a:ext cx="11091672" cy="4892040"/>
            <a:chOff x="457200" y="1554480"/>
            <a:chExt cx="11091672" cy="489204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9115B2D-81AB-60AE-B75C-09BFD05D2985}"/>
                </a:ext>
              </a:extLst>
            </p:cNvPr>
            <p:cNvSpPr/>
            <p:nvPr/>
          </p:nvSpPr>
          <p:spPr>
            <a:xfrm>
              <a:off x="457200" y="15544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27B727-69D3-7C71-F0D0-2E5A1C37D8E3}"/>
                </a:ext>
              </a:extLst>
            </p:cNvPr>
            <p:cNvSpPr/>
            <p:nvPr/>
          </p:nvSpPr>
          <p:spPr>
            <a:xfrm>
              <a:off x="457200" y="15544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007C0B-8630-608C-6270-DDAC2363D006}"/>
                </a:ext>
              </a:extLst>
            </p:cNvPr>
            <p:cNvSpPr txBox="1"/>
            <p:nvPr/>
          </p:nvSpPr>
          <p:spPr>
            <a:xfrm>
              <a:off x="621792" y="1874519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Create Account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40D5F5-090E-E4A3-D62B-91C2BC6A70A8}"/>
                </a:ext>
              </a:extLst>
            </p:cNvPr>
            <p:cNvSpPr txBox="1"/>
            <p:nvPr/>
          </p:nvSpPr>
          <p:spPr>
            <a:xfrm>
              <a:off x="621792" y="2212848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Register with BCrypt-hashed password + JWT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B49B26-9B64-DCA5-2D4B-3BBB4ED85851}"/>
                </a:ext>
              </a:extLst>
            </p:cNvPr>
            <p:cNvSpPr/>
            <p:nvPr/>
          </p:nvSpPr>
          <p:spPr>
            <a:xfrm>
              <a:off x="4215384" y="15544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69A0EDD-F9D8-0037-A51C-9EC3973CAFD0}"/>
                </a:ext>
              </a:extLst>
            </p:cNvPr>
            <p:cNvSpPr/>
            <p:nvPr/>
          </p:nvSpPr>
          <p:spPr>
            <a:xfrm>
              <a:off x="4215384" y="15544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48BE4B1-423D-3326-9B6C-67F9F5C503AB}"/>
                </a:ext>
              </a:extLst>
            </p:cNvPr>
            <p:cNvSpPr txBox="1"/>
            <p:nvPr/>
          </p:nvSpPr>
          <p:spPr>
            <a:xfrm>
              <a:off x="4379976" y="1874519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Login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9299DF0-9020-2BC3-953E-E84EDD6D3B5E}"/>
                </a:ext>
              </a:extLst>
            </p:cNvPr>
            <p:cNvSpPr txBox="1"/>
            <p:nvPr/>
          </p:nvSpPr>
          <p:spPr>
            <a:xfrm>
              <a:off x="4379976" y="2212848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Authenticate, receive Bearer token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2B21843-1666-7FFC-8AB5-443433478969}"/>
                </a:ext>
              </a:extLst>
            </p:cNvPr>
            <p:cNvSpPr/>
            <p:nvPr/>
          </p:nvSpPr>
          <p:spPr>
            <a:xfrm>
              <a:off x="7973568" y="15544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054CFDD-5D00-4777-459F-56E52B0ED693}"/>
                </a:ext>
              </a:extLst>
            </p:cNvPr>
            <p:cNvSpPr/>
            <p:nvPr/>
          </p:nvSpPr>
          <p:spPr>
            <a:xfrm>
              <a:off x="7973568" y="15544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3DE5DD1-6901-00B4-C41E-2FD4D6800A0C}"/>
                </a:ext>
              </a:extLst>
            </p:cNvPr>
            <p:cNvSpPr txBox="1"/>
            <p:nvPr/>
          </p:nvSpPr>
          <p:spPr>
            <a:xfrm>
              <a:off x="8138160" y="1874519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Manage Income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551D50E-68A8-BC4A-EFA9-59A7A623ECAF}"/>
                </a:ext>
              </a:extLst>
            </p:cNvPr>
            <p:cNvSpPr txBox="1"/>
            <p:nvPr/>
          </p:nvSpPr>
          <p:spPr>
            <a:xfrm>
              <a:off x="8138160" y="2212848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CRUD — scholarships, jobs, family support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BC3F4E-4D1A-34AA-24B5-B110D1394F64}"/>
                </a:ext>
              </a:extLst>
            </p:cNvPr>
            <p:cNvSpPr/>
            <p:nvPr/>
          </p:nvSpPr>
          <p:spPr>
            <a:xfrm>
              <a:off x="457200" y="32308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35F539E-0E1F-8612-8C43-A8CE776961E2}"/>
                </a:ext>
              </a:extLst>
            </p:cNvPr>
            <p:cNvSpPr/>
            <p:nvPr/>
          </p:nvSpPr>
          <p:spPr>
            <a:xfrm>
              <a:off x="457200" y="32308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7B4A84-EDCA-D704-64A0-34E1C264F224}"/>
                </a:ext>
              </a:extLst>
            </p:cNvPr>
            <p:cNvSpPr txBox="1"/>
            <p:nvPr/>
          </p:nvSpPr>
          <p:spPr>
            <a:xfrm>
              <a:off x="621792" y="3550920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Manage Expenses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14A49D-760D-BF70-FE5B-9FD7F80BC6D4}"/>
                </a:ext>
              </a:extLst>
            </p:cNvPr>
            <p:cNvSpPr txBox="1"/>
            <p:nvPr/>
          </p:nvSpPr>
          <p:spPr>
            <a:xfrm>
              <a:off x="621792" y="3889247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CRUD — housing, food, transport, etc.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71A3A2-8A1D-34B0-EAB2-7F4F3EA6F68C}"/>
                </a:ext>
              </a:extLst>
            </p:cNvPr>
            <p:cNvSpPr/>
            <p:nvPr/>
          </p:nvSpPr>
          <p:spPr>
            <a:xfrm>
              <a:off x="4215384" y="32308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68EA86A-11E7-54DB-B925-947B8B9C1D06}"/>
                </a:ext>
              </a:extLst>
            </p:cNvPr>
            <p:cNvSpPr/>
            <p:nvPr/>
          </p:nvSpPr>
          <p:spPr>
            <a:xfrm>
              <a:off x="4215384" y="32308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43961FE-8E49-AD55-F78C-5B8D266622F3}"/>
                </a:ext>
              </a:extLst>
            </p:cNvPr>
            <p:cNvSpPr txBox="1"/>
            <p:nvPr/>
          </p:nvSpPr>
          <p:spPr>
            <a:xfrm>
              <a:off x="4379976" y="3550920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Budget Dashboard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F7C8613-1836-B032-2CE1-C15EDEC3773E}"/>
                </a:ext>
              </a:extLst>
            </p:cNvPr>
            <p:cNvSpPr txBox="1"/>
            <p:nvPr/>
          </p:nvSpPr>
          <p:spPr>
            <a:xfrm>
              <a:off x="4379976" y="3889247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Totals, net balance, 6-month chart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772343B-6E25-A895-23DB-5653080B1B4C}"/>
                </a:ext>
              </a:extLst>
            </p:cNvPr>
            <p:cNvSpPr/>
            <p:nvPr/>
          </p:nvSpPr>
          <p:spPr>
            <a:xfrm>
              <a:off x="7973568" y="32308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C114AF-54A8-3A03-A7D0-5D4DE1FDE2C2}"/>
                </a:ext>
              </a:extLst>
            </p:cNvPr>
            <p:cNvSpPr/>
            <p:nvPr/>
          </p:nvSpPr>
          <p:spPr>
            <a:xfrm>
              <a:off x="7973568" y="32308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3C58F14-B157-A7A9-5B64-7FDAFF7DF8BC}"/>
                </a:ext>
              </a:extLst>
            </p:cNvPr>
            <p:cNvSpPr txBox="1"/>
            <p:nvPr/>
          </p:nvSpPr>
          <p:spPr>
            <a:xfrm>
              <a:off x="8138160" y="3550920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Tuition Planner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D4D86E-1F8A-B317-5238-03B81FFAED09}"/>
                </a:ext>
              </a:extLst>
            </p:cNvPr>
            <p:cNvSpPr txBox="1"/>
            <p:nvPr/>
          </p:nvSpPr>
          <p:spPr>
            <a:xfrm>
              <a:off x="8138160" y="3889247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Gross/net tuition with scholarship offset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95DE9EF-6941-CAE6-211D-3900D872FF20}"/>
                </a:ext>
              </a:extLst>
            </p:cNvPr>
            <p:cNvSpPr/>
            <p:nvPr/>
          </p:nvSpPr>
          <p:spPr>
            <a:xfrm>
              <a:off x="457200" y="49072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229A38C-44DB-3655-4DE6-34844144A986}"/>
                </a:ext>
              </a:extLst>
            </p:cNvPr>
            <p:cNvSpPr/>
            <p:nvPr/>
          </p:nvSpPr>
          <p:spPr>
            <a:xfrm>
              <a:off x="457200" y="49072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F41145-1E20-8873-A3E1-414C5E14E92F}"/>
                </a:ext>
              </a:extLst>
            </p:cNvPr>
            <p:cNvSpPr txBox="1"/>
            <p:nvPr/>
          </p:nvSpPr>
          <p:spPr>
            <a:xfrm>
              <a:off x="621792" y="5227319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Expense Prediction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BA516E1-7E65-258B-35D1-E998C5263B3F}"/>
                </a:ext>
              </a:extLst>
            </p:cNvPr>
            <p:cNvSpPr txBox="1"/>
            <p:nvPr/>
          </p:nvSpPr>
          <p:spPr>
            <a:xfrm>
              <a:off x="621792" y="5565647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3-month moving-average forecast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6A85EB2-579C-14C7-59EA-AEA2E6AFF32F}"/>
                </a:ext>
              </a:extLst>
            </p:cNvPr>
            <p:cNvSpPr/>
            <p:nvPr/>
          </p:nvSpPr>
          <p:spPr>
            <a:xfrm>
              <a:off x="4215384" y="49072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C8C84A3-D6EC-8FDC-6E3D-8649C39118A8}"/>
                </a:ext>
              </a:extLst>
            </p:cNvPr>
            <p:cNvSpPr/>
            <p:nvPr/>
          </p:nvSpPr>
          <p:spPr>
            <a:xfrm>
              <a:off x="4215384" y="49072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2A3336-0CF6-6BFA-F9BC-CF0D6D2F15FA}"/>
                </a:ext>
              </a:extLst>
            </p:cNvPr>
            <p:cNvSpPr txBox="1"/>
            <p:nvPr/>
          </p:nvSpPr>
          <p:spPr>
            <a:xfrm>
              <a:off x="4379976" y="5227319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What-If Simulation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FFE0600-4C8A-2D26-3FB9-B2385AAD446D}"/>
                </a:ext>
              </a:extLst>
            </p:cNvPr>
            <p:cNvSpPr txBox="1"/>
            <p:nvPr/>
          </p:nvSpPr>
          <p:spPr>
            <a:xfrm>
              <a:off x="4379976" y="5565647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Month-by-month cash flow projection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374FF20-06BA-4A88-7257-DB6ECE7B0FC9}"/>
                </a:ext>
              </a:extLst>
            </p:cNvPr>
            <p:cNvSpPr/>
            <p:nvPr/>
          </p:nvSpPr>
          <p:spPr>
            <a:xfrm>
              <a:off x="7973568" y="4907280"/>
              <a:ext cx="3575304" cy="1539240"/>
            </a:xfrm>
            <a:prstGeom prst="rect">
              <a:avLst/>
            </a:prstGeom>
            <a:solidFill>
              <a:srgbClr val="08385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64F86E-1597-67F0-F382-8F1302C3A192}"/>
                </a:ext>
              </a:extLst>
            </p:cNvPr>
            <p:cNvSpPr/>
            <p:nvPr/>
          </p:nvSpPr>
          <p:spPr>
            <a:xfrm>
              <a:off x="7973568" y="4907280"/>
              <a:ext cx="54864" cy="1539240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59EA830-E38E-2DE7-5674-01D924D25F38}"/>
                </a:ext>
              </a:extLst>
            </p:cNvPr>
            <p:cNvSpPr txBox="1"/>
            <p:nvPr/>
          </p:nvSpPr>
          <p:spPr>
            <a:xfrm>
              <a:off x="8138160" y="5227319"/>
              <a:ext cx="3300984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Calibri"/>
                </a:rPr>
                <a:t>AI Financial Advisor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3D117E6-F8BF-E5BD-B040-929952CEE64D}"/>
                </a:ext>
              </a:extLst>
            </p:cNvPr>
            <p:cNvSpPr txBox="1"/>
            <p:nvPr/>
          </p:nvSpPr>
          <p:spPr>
            <a:xfrm>
              <a:off x="8138160" y="5565647"/>
              <a:ext cx="3300984" cy="548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GPT-powered, grounded in user's real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91609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02B695-BC88-1C17-A22B-0D5ED460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8800852D-8874-84E2-FACD-6E2910EA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133843-9D8F-1F2A-41A7-279AA8194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18CA9B5-AA94-3B33-6C07-A111EAECB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5F06764-B668-5EEB-C7F1-351638ABA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D2D6F8F-C273-1F63-B1E6-18A1F616C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C6CF7B-446B-AB56-1FE5-2BC9718E1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5C378E-42F5-1F23-2DFA-13807777B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CDDFC3-2FD7-AD5F-B2BD-FF5E96639912}"/>
              </a:ext>
            </a:extLst>
          </p:cNvPr>
          <p:cNvSpPr txBox="1"/>
          <p:nvPr/>
        </p:nvSpPr>
        <p:spPr>
          <a:xfrm>
            <a:off x="1737360" y="429013"/>
            <a:ext cx="8051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ALGORITHMS</a:t>
            </a:r>
            <a:endParaRPr lang="en-US" sz="40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D76761-7FC3-E00D-A942-E91C664CDA36}"/>
              </a:ext>
            </a:extLst>
          </p:cNvPr>
          <p:cNvGrpSpPr/>
          <p:nvPr/>
        </p:nvGrpSpPr>
        <p:grpSpPr>
          <a:xfrm>
            <a:off x="548640" y="1417320"/>
            <a:ext cx="11064240" cy="4992624"/>
            <a:chOff x="548640" y="1417320"/>
            <a:chExt cx="11064240" cy="49926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C63CC9-1745-4EDE-359D-E500369E10B6}"/>
                </a:ext>
              </a:extLst>
            </p:cNvPr>
            <p:cNvSpPr/>
            <p:nvPr/>
          </p:nvSpPr>
          <p:spPr>
            <a:xfrm>
              <a:off x="548640" y="1417320"/>
              <a:ext cx="11064240" cy="896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604FDB-4226-0D9C-7488-F6594DAC9A79}"/>
                </a:ext>
              </a:extLst>
            </p:cNvPr>
            <p:cNvSpPr/>
            <p:nvPr/>
          </p:nvSpPr>
          <p:spPr>
            <a:xfrm>
              <a:off x="548640" y="1417320"/>
              <a:ext cx="256032" cy="896112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C124B6-8D8A-E15B-C6D6-7796422E919A}"/>
                </a:ext>
              </a:extLst>
            </p:cNvPr>
            <p:cNvSpPr txBox="1"/>
            <p:nvPr/>
          </p:nvSpPr>
          <p:spPr>
            <a:xfrm>
              <a:off x="960120" y="1490472"/>
              <a:ext cx="3474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2D3A4A"/>
                  </a:solidFill>
                  <a:latin typeface="Calibri"/>
                </a:rPr>
                <a:t>Dashboard Aggregation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54A1818-9662-6136-CD86-3902DDA3BAF3}"/>
                </a:ext>
              </a:extLst>
            </p:cNvPr>
            <p:cNvSpPr txBox="1"/>
            <p:nvPr/>
          </p:nvSpPr>
          <p:spPr>
            <a:xfrm>
              <a:off x="960120" y="1856232"/>
              <a:ext cx="104241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5A6A7A"/>
                  </a:solidFill>
                  <a:latin typeface="Calibri"/>
                </a:rPr>
                <a:t>Sums income/expense via BigDecimal across last 6 months using 12 indexed range queries (2 per month). O(n) in window size.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9F01FF1-8B99-A51E-B814-ABC2973C4882}"/>
                </a:ext>
              </a:extLst>
            </p:cNvPr>
            <p:cNvSpPr/>
            <p:nvPr/>
          </p:nvSpPr>
          <p:spPr>
            <a:xfrm>
              <a:off x="548640" y="2441448"/>
              <a:ext cx="11064240" cy="896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EACDD2C-13F3-DCB3-FB52-F4C24E017E22}"/>
                </a:ext>
              </a:extLst>
            </p:cNvPr>
            <p:cNvSpPr/>
            <p:nvPr/>
          </p:nvSpPr>
          <p:spPr>
            <a:xfrm>
              <a:off x="548640" y="2441448"/>
              <a:ext cx="256032" cy="896112"/>
            </a:xfrm>
            <a:prstGeom prst="rect">
              <a:avLst/>
            </a:prstGeom>
            <a:solidFill>
              <a:srgbClr val="062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7783867-9D7A-CC22-9F00-12D41D7C58D8}"/>
                </a:ext>
              </a:extLst>
            </p:cNvPr>
            <p:cNvSpPr txBox="1"/>
            <p:nvPr/>
          </p:nvSpPr>
          <p:spPr>
            <a:xfrm>
              <a:off x="960120" y="2514600"/>
              <a:ext cx="3474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2D3A4A"/>
                  </a:solidFill>
                  <a:latin typeface="Calibri"/>
                </a:rPr>
                <a:t>Expense Prediction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EC89586-C89F-F10C-BCC8-7E1C4367FA05}"/>
                </a:ext>
              </a:extLst>
            </p:cNvPr>
            <p:cNvSpPr txBox="1"/>
            <p:nvPr/>
          </p:nvSpPr>
          <p:spPr>
            <a:xfrm>
              <a:off x="960120" y="2880360"/>
              <a:ext cx="104241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5A6A7A"/>
                  </a:solidFill>
                  <a:latin typeface="Calibri"/>
                </a:rPr>
                <a:t>3-month moving average grouped by category. Requires ≥ 3 months; returns HTTP 422 if insufficient. Scale=2, HALF_UP.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2F4AA10-9A19-2482-056C-482C7FCAE9A0}"/>
                </a:ext>
              </a:extLst>
            </p:cNvPr>
            <p:cNvSpPr/>
            <p:nvPr/>
          </p:nvSpPr>
          <p:spPr>
            <a:xfrm>
              <a:off x="548640" y="3465576"/>
              <a:ext cx="11064240" cy="896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EF92925-1B8F-7FAA-17A7-3113A843B7B0}"/>
                </a:ext>
              </a:extLst>
            </p:cNvPr>
            <p:cNvSpPr/>
            <p:nvPr/>
          </p:nvSpPr>
          <p:spPr>
            <a:xfrm>
              <a:off x="548640" y="3465576"/>
              <a:ext cx="256032" cy="896112"/>
            </a:xfrm>
            <a:prstGeom prst="rect">
              <a:avLst/>
            </a:prstGeom>
            <a:solidFill>
              <a:srgbClr val="02557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848AB388-FCDC-B0C6-A8FE-9FF0BA241D1B}"/>
                </a:ext>
              </a:extLst>
            </p:cNvPr>
            <p:cNvSpPr txBox="1"/>
            <p:nvPr/>
          </p:nvSpPr>
          <p:spPr>
            <a:xfrm>
              <a:off x="960120" y="3538728"/>
              <a:ext cx="3474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2D3A4A"/>
                  </a:solidFill>
                  <a:latin typeface="Calibri"/>
                </a:rPr>
                <a:t>What-If Simulation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0325AEC-DFC1-C84D-9A4C-CF952061EB59}"/>
                </a:ext>
              </a:extLst>
            </p:cNvPr>
            <p:cNvSpPr txBox="1"/>
            <p:nvPr/>
          </p:nvSpPr>
          <p:spPr>
            <a:xfrm>
              <a:off x="960120" y="3904487"/>
              <a:ext cx="104241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5A6A7A"/>
                  </a:solidFill>
                  <a:latin typeface="Calibri"/>
                </a:rPr>
                <a:t>Iterates m = 1..N: balance += (hypoIncome − hypoExpenses). Pure read-only — never persists. O(months).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902F23D-1EA2-C4A7-0A8E-83190EEAC4AC}"/>
                </a:ext>
              </a:extLst>
            </p:cNvPr>
            <p:cNvSpPr/>
            <p:nvPr/>
          </p:nvSpPr>
          <p:spPr>
            <a:xfrm>
              <a:off x="548640" y="4489704"/>
              <a:ext cx="11064240" cy="896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ED4CF41-A3F3-152F-B4FF-6112D8D1A644}"/>
                </a:ext>
              </a:extLst>
            </p:cNvPr>
            <p:cNvSpPr/>
            <p:nvPr/>
          </p:nvSpPr>
          <p:spPr>
            <a:xfrm>
              <a:off x="548640" y="4489704"/>
              <a:ext cx="256032" cy="896112"/>
            </a:xfrm>
            <a:prstGeom prst="rect">
              <a:avLst/>
            </a:prstGeom>
            <a:solidFill>
              <a:srgbClr val="036B5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4606A83-0633-8967-0592-E7B80E8D66FC}"/>
                </a:ext>
              </a:extLst>
            </p:cNvPr>
            <p:cNvSpPr txBox="1"/>
            <p:nvPr/>
          </p:nvSpPr>
          <p:spPr>
            <a:xfrm>
              <a:off x="960120" y="4562856"/>
              <a:ext cx="3474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2D3A4A"/>
                  </a:solidFill>
                  <a:latin typeface="Calibri"/>
                </a:rPr>
                <a:t>Tuition Calculation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248D3EA-22C8-D767-4A8A-1BDA74B8A6DE}"/>
                </a:ext>
              </a:extLst>
            </p:cNvPr>
            <p:cNvSpPr txBox="1"/>
            <p:nvPr/>
          </p:nvSpPr>
          <p:spPr>
            <a:xfrm>
              <a:off x="960120" y="4928616"/>
              <a:ext cx="104241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5A6A7A"/>
                  </a:solidFill>
                  <a:latin typeface="Calibri"/>
                </a:rPr>
                <a:t>grossTuition = perCourse × N; netTuition = max(0, gross − scholarship). Floors at zero. Persists TuitionPlan.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660F9FD-5EF4-D552-AF3B-14B2E1BA9127}"/>
                </a:ext>
              </a:extLst>
            </p:cNvPr>
            <p:cNvSpPr/>
            <p:nvPr/>
          </p:nvSpPr>
          <p:spPr>
            <a:xfrm>
              <a:off x="548640" y="5513832"/>
              <a:ext cx="11064240" cy="8961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6ACAC69-E304-8E16-0559-5BD0FA9E9B91}"/>
                </a:ext>
              </a:extLst>
            </p:cNvPr>
            <p:cNvSpPr/>
            <p:nvPr/>
          </p:nvSpPr>
          <p:spPr>
            <a:xfrm>
              <a:off x="548640" y="5513832"/>
              <a:ext cx="256032" cy="896112"/>
            </a:xfrm>
            <a:prstGeom prst="rect">
              <a:avLst/>
            </a:prstGeom>
            <a:solidFill>
              <a:srgbClr val="442B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447434D-3ACD-6160-DF57-C9B68AE8A4C4}"/>
                </a:ext>
              </a:extLst>
            </p:cNvPr>
            <p:cNvSpPr txBox="1"/>
            <p:nvPr/>
          </p:nvSpPr>
          <p:spPr>
            <a:xfrm>
              <a:off x="960120" y="5586984"/>
              <a:ext cx="34747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00" b="1" i="0">
                  <a:solidFill>
                    <a:srgbClr val="2D3A4A"/>
                  </a:solidFill>
                  <a:latin typeface="Calibri"/>
                </a:rPr>
                <a:t>AI Context Enrichment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FA4E624-BA09-8CBD-FFDF-F6C73A53BBDE}"/>
                </a:ext>
              </a:extLst>
            </p:cNvPr>
            <p:cNvSpPr txBox="1"/>
            <p:nvPr/>
          </p:nvSpPr>
          <p:spPr>
            <a:xfrm>
              <a:off x="960120" y="5952744"/>
              <a:ext cx="1042416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5A6A7A"/>
                  </a:solidFill>
                  <a:latin typeface="Calibri"/>
                </a:rPr>
                <a:t>Injects totals, 6-month history into system prompt before GPT call. Temperature = 0.4. 5-second SLA; 504 on timeout.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269508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4274F-4C15-23EC-D540-C9C2F0D8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C139583-893A-C92B-43AF-B1652CC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9D822C1-B48E-CFE2-5994-2FC0271CD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B8B8EAD-8AA0-BB2C-D666-EE29B692C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7607D29-39F1-18C7-770C-BB8644C39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FE3D39A-C10B-E877-27AB-F8039C813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350A0DB-9304-C824-798B-7810FDBD3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23B0059-7601-FC73-A12E-1FA5D752E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37C02-270E-A837-DD67-0B60C0B35C28}"/>
              </a:ext>
            </a:extLst>
          </p:cNvPr>
          <p:cNvSpPr txBox="1"/>
          <p:nvPr/>
        </p:nvSpPr>
        <p:spPr>
          <a:xfrm>
            <a:off x="759748" y="488541"/>
            <a:ext cx="860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UML DIGRAMS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CF03AB-3256-D5E2-FDDF-998DC00A2941}"/>
              </a:ext>
            </a:extLst>
          </p:cNvPr>
          <p:cNvSpPr txBox="1"/>
          <p:nvPr/>
        </p:nvSpPr>
        <p:spPr>
          <a:xfrm>
            <a:off x="659463" y="1012008"/>
            <a:ext cx="109728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D0DBE5"/>
                </a:solidFill>
                <a:latin typeface="Calibri"/>
              </a:rPr>
              <a:t>3 class diagrams + 5 </a:t>
            </a:r>
            <a:r>
              <a:rPr sz="1500" b="0" i="0" dirty="0" err="1">
                <a:solidFill>
                  <a:srgbClr val="D0DBE5"/>
                </a:solidFill>
                <a:latin typeface="Calibri"/>
              </a:rPr>
              <a:t>statecharts</a:t>
            </a:r>
            <a:r>
              <a:rPr sz="1500" b="0" i="0" dirty="0">
                <a:solidFill>
                  <a:srgbClr val="D0DBE5"/>
                </a:solidFill>
                <a:latin typeface="Calibri"/>
              </a:rPr>
              <a:t> covering all major workflows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E84D13D-3978-C716-BB4B-5FB800CDB777}"/>
              </a:ext>
            </a:extLst>
          </p:cNvPr>
          <p:cNvGrpSpPr/>
          <p:nvPr/>
        </p:nvGrpSpPr>
        <p:grpSpPr>
          <a:xfrm>
            <a:off x="583558" y="1462041"/>
            <a:ext cx="11024883" cy="4779300"/>
            <a:chOff x="548640" y="1508760"/>
            <a:chExt cx="11201400" cy="511149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64A0567-1E99-36C8-DAF0-6FCEC924602E}"/>
                </a:ext>
              </a:extLst>
            </p:cNvPr>
            <p:cNvSpPr txBox="1"/>
            <p:nvPr/>
          </p:nvSpPr>
          <p:spPr>
            <a:xfrm>
              <a:off x="548640" y="1508760"/>
              <a:ext cx="539496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028090"/>
                  </a:solidFill>
                  <a:latin typeface="Calibri"/>
                </a:rPr>
                <a:t>Class Diagrams (3)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09E7B7B-4986-EC6D-BB24-098AD2B8B8A0}"/>
                </a:ext>
              </a:extLst>
            </p:cNvPr>
            <p:cNvSpPr txBox="1"/>
            <p:nvPr/>
          </p:nvSpPr>
          <p:spPr>
            <a:xfrm>
              <a:off x="6263640" y="1508760"/>
              <a:ext cx="5486400" cy="4114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>
                  <a:solidFill>
                    <a:srgbClr val="02C39A"/>
                  </a:solidFill>
                  <a:latin typeface="Calibri"/>
                </a:rPr>
                <a:t>Statecharts (5)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4482502-3DCE-3904-05EB-918636704288}"/>
                </a:ext>
              </a:extLst>
            </p:cNvPr>
            <p:cNvGrpSpPr/>
            <p:nvPr/>
          </p:nvGrpSpPr>
          <p:grpSpPr>
            <a:xfrm>
              <a:off x="548640" y="1810512"/>
              <a:ext cx="11201400" cy="4809744"/>
              <a:chOff x="548640" y="1810512"/>
              <a:chExt cx="11201400" cy="4809744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467D003-553D-B98B-8529-D64A694AD3D7}"/>
                  </a:ext>
                </a:extLst>
              </p:cNvPr>
              <p:cNvSpPr/>
              <p:nvPr/>
            </p:nvSpPr>
            <p:spPr>
              <a:xfrm>
                <a:off x="548640" y="1993392"/>
                <a:ext cx="5394960" cy="137160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C817EB3E-5783-402C-4915-75EAE5A16239}"/>
                  </a:ext>
                </a:extLst>
              </p:cNvPr>
              <p:cNvSpPr/>
              <p:nvPr/>
            </p:nvSpPr>
            <p:spPr>
              <a:xfrm>
                <a:off x="548640" y="1993392"/>
                <a:ext cx="54864" cy="1371600"/>
              </a:xfrm>
              <a:prstGeom prst="rect">
                <a:avLst/>
              </a:prstGeom>
              <a:solidFill>
                <a:srgbClr val="0280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A60DFF5-B35C-7AFB-07FE-420120A5C8C6}"/>
                  </a:ext>
                </a:extLst>
              </p:cNvPr>
              <p:cNvSpPr txBox="1"/>
              <p:nvPr/>
            </p:nvSpPr>
            <p:spPr>
              <a:xfrm>
                <a:off x="777240" y="2103120"/>
                <a:ext cx="5029200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D1 — Domain Model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F32B468-2311-A280-B555-35A9DBA6D65C}"/>
                  </a:ext>
                </a:extLst>
              </p:cNvPr>
              <p:cNvSpPr txBox="1"/>
              <p:nvPr/>
            </p:nvSpPr>
            <p:spPr>
              <a:xfrm>
                <a:off x="777240" y="2487168"/>
                <a:ext cx="5029200" cy="685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50" b="0" i="0">
                    <a:solidFill>
                      <a:srgbClr val="D0DBE5"/>
                    </a:solidFill>
                    <a:latin typeface="Calibri"/>
                  </a:rPr>
                  <a:t>JPA entities + DTO families
Composition &amp; dependency relationships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77048D7-AF86-25BF-0C1B-C4D0F83ABDFD}"/>
                  </a:ext>
                </a:extLst>
              </p:cNvPr>
              <p:cNvSpPr/>
              <p:nvPr/>
            </p:nvSpPr>
            <p:spPr>
              <a:xfrm>
                <a:off x="548640" y="3502152"/>
                <a:ext cx="5394960" cy="137160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B33CAA8-8F4B-5ED8-2A03-3257DB7813C0}"/>
                  </a:ext>
                </a:extLst>
              </p:cNvPr>
              <p:cNvSpPr/>
              <p:nvPr/>
            </p:nvSpPr>
            <p:spPr>
              <a:xfrm>
                <a:off x="548640" y="3502152"/>
                <a:ext cx="54864" cy="1371600"/>
              </a:xfrm>
              <a:prstGeom prst="rect">
                <a:avLst/>
              </a:prstGeom>
              <a:solidFill>
                <a:srgbClr val="0280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E32CA65-8B71-B083-1CC2-D42C7CDD02BB}"/>
                  </a:ext>
                </a:extLst>
              </p:cNvPr>
              <p:cNvSpPr txBox="1"/>
              <p:nvPr/>
            </p:nvSpPr>
            <p:spPr>
              <a:xfrm>
                <a:off x="777240" y="3611879"/>
                <a:ext cx="5029200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D2 — MVC Diagram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E70207F-B3C3-E689-5799-872F2D4105BB}"/>
                  </a:ext>
                </a:extLst>
              </p:cNvPr>
              <p:cNvSpPr txBox="1"/>
              <p:nvPr/>
            </p:nvSpPr>
            <p:spPr>
              <a:xfrm>
                <a:off x="777240" y="3995928"/>
                <a:ext cx="5029200" cy="685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50" b="0" i="0">
                    <a:solidFill>
                      <a:srgbClr val="D0DBE5"/>
                    </a:solidFill>
                    <a:latin typeface="Calibri"/>
                  </a:rPr>
                  <a:t>3-column View / Controller / Model
Cross-package request flow arrows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CEE9CAC-74D7-E6D4-F21C-1F5EC45D20DF}"/>
                  </a:ext>
                </a:extLst>
              </p:cNvPr>
              <p:cNvSpPr/>
              <p:nvPr/>
            </p:nvSpPr>
            <p:spPr>
              <a:xfrm>
                <a:off x="548640" y="5010912"/>
                <a:ext cx="5394960" cy="137160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B1642C82-AE6D-EA9E-CC30-597735FA622E}"/>
                  </a:ext>
                </a:extLst>
              </p:cNvPr>
              <p:cNvSpPr/>
              <p:nvPr/>
            </p:nvSpPr>
            <p:spPr>
              <a:xfrm>
                <a:off x="548640" y="5010912"/>
                <a:ext cx="54864" cy="1371600"/>
              </a:xfrm>
              <a:prstGeom prst="rect">
                <a:avLst/>
              </a:prstGeom>
              <a:solidFill>
                <a:srgbClr val="0280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7050052-9074-1312-8D39-0480112DD860}"/>
                  </a:ext>
                </a:extLst>
              </p:cNvPr>
              <p:cNvSpPr txBox="1"/>
              <p:nvPr/>
            </p:nvSpPr>
            <p:spPr>
              <a:xfrm>
                <a:off x="777240" y="5120640"/>
                <a:ext cx="5029200" cy="365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D3 — Reverse Class Diagram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3017E06-0F5A-B228-468F-62BB5FFB6045}"/>
                  </a:ext>
                </a:extLst>
              </p:cNvPr>
              <p:cNvSpPr txBox="1"/>
              <p:nvPr/>
            </p:nvSpPr>
            <p:spPr>
              <a:xfrm>
                <a:off x="777240" y="5504688"/>
                <a:ext cx="5029200" cy="6858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50" b="0" i="0">
                    <a:solidFill>
                      <a:srgbClr val="D0DBE5"/>
                    </a:solidFill>
                    <a:latin typeface="Calibri"/>
                  </a:rPr>
                  <a:t>IDE-style — exact current source state
TODO stubs &amp; placeholder classes visible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F0B4C68-7EEF-5853-E3D5-4B8A3A672CCE}"/>
                  </a:ext>
                </a:extLst>
              </p:cNvPr>
              <p:cNvSpPr/>
              <p:nvPr/>
            </p:nvSpPr>
            <p:spPr>
              <a:xfrm>
                <a:off x="6263640" y="1810512"/>
                <a:ext cx="5486400" cy="896112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81E0EE58-17FB-2657-D8BD-FF7F19EF5112}"/>
                  </a:ext>
                </a:extLst>
              </p:cNvPr>
              <p:cNvSpPr/>
              <p:nvPr/>
            </p:nvSpPr>
            <p:spPr>
              <a:xfrm>
                <a:off x="6263640" y="1810512"/>
                <a:ext cx="54864" cy="896112"/>
              </a:xfrm>
              <a:prstGeom prst="rect">
                <a:avLst/>
              </a:prstGeom>
              <a:solidFill>
                <a:srgbClr val="02C39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357597D-404C-8533-A801-290F5AE7D028}"/>
                  </a:ext>
                </a:extLst>
              </p:cNvPr>
              <p:cNvSpPr txBox="1"/>
              <p:nvPr/>
            </p:nvSpPr>
            <p:spPr>
              <a:xfrm>
                <a:off x="6492240" y="1892807"/>
                <a:ext cx="51206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1" i="0">
                    <a:solidFill>
                      <a:srgbClr val="FFFFFF"/>
                    </a:solidFill>
                    <a:latin typeface="Calibri"/>
                  </a:rPr>
                  <a:t>S1 — Authentication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D52B703-0422-CC40-F3C5-BD5A1AC306CA}"/>
                  </a:ext>
                </a:extLst>
              </p:cNvPr>
              <p:cNvSpPr txBox="1"/>
              <p:nvPr/>
            </p:nvSpPr>
            <p:spPr>
              <a:xfrm>
                <a:off x="6492240" y="2221992"/>
                <a:ext cx="512064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D0DBE5"/>
                    </a:solidFill>
                    <a:latin typeface="Calibri"/>
                  </a:rPr>
                  <a:t>Landing → Register / Login → Session Active → Token Expired → Logout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67A451D-7761-9492-FCC2-9278DF30AE04}"/>
                  </a:ext>
                </a:extLst>
              </p:cNvPr>
              <p:cNvSpPr/>
              <p:nvPr/>
            </p:nvSpPr>
            <p:spPr>
              <a:xfrm>
                <a:off x="6263640" y="2788920"/>
                <a:ext cx="5486400" cy="896112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46DD49DB-4047-B369-8437-A4FEF35C53D3}"/>
                  </a:ext>
                </a:extLst>
              </p:cNvPr>
              <p:cNvSpPr/>
              <p:nvPr/>
            </p:nvSpPr>
            <p:spPr>
              <a:xfrm>
                <a:off x="6263640" y="2788920"/>
                <a:ext cx="54864" cy="896112"/>
              </a:xfrm>
              <a:prstGeom prst="rect">
                <a:avLst/>
              </a:prstGeom>
              <a:solidFill>
                <a:srgbClr val="02C39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0F02009-0EB6-62CD-ED24-77F9BDF08944}"/>
                  </a:ext>
                </a:extLst>
              </p:cNvPr>
              <p:cNvSpPr txBox="1"/>
              <p:nvPr/>
            </p:nvSpPr>
            <p:spPr>
              <a:xfrm>
                <a:off x="6492240" y="2871215"/>
                <a:ext cx="51206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1" i="0">
                    <a:solidFill>
                      <a:srgbClr val="FFFFFF"/>
                    </a:solidFill>
                    <a:latin typeface="Calibri"/>
                  </a:rPr>
                  <a:t>S2 — Income/Expense Lifecycle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D9E69F4B-EFAB-DBEA-80A6-AAE2F878545E}"/>
                  </a:ext>
                </a:extLst>
              </p:cNvPr>
              <p:cNvSpPr txBox="1"/>
              <p:nvPr/>
            </p:nvSpPr>
            <p:spPr>
              <a:xfrm>
                <a:off x="6492240" y="3200400"/>
                <a:ext cx="512064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D0DBE5"/>
                    </a:solidFill>
                    <a:latin typeface="Calibri"/>
                  </a:rPr>
                  <a:t>No Record → Draft → Validating → Persisted → Edit → Delete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EEBD71DD-1976-BA8C-06A3-CF65982F868A}"/>
                  </a:ext>
                </a:extLst>
              </p:cNvPr>
              <p:cNvSpPr/>
              <p:nvPr/>
            </p:nvSpPr>
            <p:spPr>
              <a:xfrm>
                <a:off x="6263640" y="3767328"/>
                <a:ext cx="5486400" cy="896112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7617C43-D79D-10D6-91F5-4C2018680388}"/>
                  </a:ext>
                </a:extLst>
              </p:cNvPr>
              <p:cNvSpPr/>
              <p:nvPr/>
            </p:nvSpPr>
            <p:spPr>
              <a:xfrm>
                <a:off x="6263640" y="3767328"/>
                <a:ext cx="54864" cy="896112"/>
              </a:xfrm>
              <a:prstGeom prst="rect">
                <a:avLst/>
              </a:prstGeom>
              <a:solidFill>
                <a:srgbClr val="02C39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75C5E60-9DF8-B364-DFD0-2A829F31AEBC}"/>
                  </a:ext>
                </a:extLst>
              </p:cNvPr>
              <p:cNvSpPr txBox="1"/>
              <p:nvPr/>
            </p:nvSpPr>
            <p:spPr>
              <a:xfrm>
                <a:off x="6492240" y="3849624"/>
                <a:ext cx="51206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1" i="0">
                    <a:solidFill>
                      <a:srgbClr val="FFFFFF"/>
                    </a:solidFill>
                    <a:latin typeface="Calibri"/>
                  </a:rPr>
                  <a:t>S3 — Tuition Planning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77C9B68-2072-4151-D701-1E03D6A363A4}"/>
                  </a:ext>
                </a:extLst>
              </p:cNvPr>
              <p:cNvSpPr txBox="1"/>
              <p:nvPr/>
            </p:nvSpPr>
            <p:spPr>
              <a:xfrm>
                <a:off x="6492240" y="4178808"/>
                <a:ext cx="512064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D0DBE5"/>
                    </a:solidFill>
                    <a:latin typeface="Calibri"/>
                  </a:rPr>
                  <a:t>Inputs → Validate → Calculate → Display Result → Adjust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B7BB9D2-7DF1-3C6A-DD8E-5FC89BDC5B13}"/>
                  </a:ext>
                </a:extLst>
              </p:cNvPr>
              <p:cNvSpPr/>
              <p:nvPr/>
            </p:nvSpPr>
            <p:spPr>
              <a:xfrm>
                <a:off x="6263640" y="4745736"/>
                <a:ext cx="5486400" cy="896112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F8BA650D-7C18-07ED-31B9-D2A3D4AB05FD}"/>
                  </a:ext>
                </a:extLst>
              </p:cNvPr>
              <p:cNvSpPr/>
              <p:nvPr/>
            </p:nvSpPr>
            <p:spPr>
              <a:xfrm>
                <a:off x="6263640" y="4745736"/>
                <a:ext cx="54864" cy="896112"/>
              </a:xfrm>
              <a:prstGeom prst="rect">
                <a:avLst/>
              </a:prstGeom>
              <a:solidFill>
                <a:srgbClr val="02C39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7500B31-9919-49E2-41D8-7FF1AD417CCA}"/>
                  </a:ext>
                </a:extLst>
              </p:cNvPr>
              <p:cNvSpPr txBox="1"/>
              <p:nvPr/>
            </p:nvSpPr>
            <p:spPr>
              <a:xfrm>
                <a:off x="6492240" y="4828031"/>
                <a:ext cx="51206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1" i="0">
                    <a:solidFill>
                      <a:srgbClr val="FFFFFF"/>
                    </a:solidFill>
                    <a:latin typeface="Calibri"/>
                  </a:rPr>
                  <a:t>S4 — What-If Simulation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94AFE2C-A529-0BE9-6253-F2E06CFF8796}"/>
                  </a:ext>
                </a:extLst>
              </p:cNvPr>
              <p:cNvSpPr txBox="1"/>
              <p:nvPr/>
            </p:nvSpPr>
            <p:spPr>
              <a:xfrm>
                <a:off x="6492240" y="5157216"/>
                <a:ext cx="512064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D0DBE5"/>
                    </a:solidFill>
                    <a:latin typeface="Calibri"/>
                  </a:rPr>
                  <a:t>Baseline Load → Config → Simulate → Projection → Compare Scenarios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417F5B5B-BACA-6437-3B89-A3ED1132D178}"/>
                  </a:ext>
                </a:extLst>
              </p:cNvPr>
              <p:cNvSpPr/>
              <p:nvPr/>
            </p:nvSpPr>
            <p:spPr>
              <a:xfrm>
                <a:off x="6263640" y="5724144"/>
                <a:ext cx="5486400" cy="896112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63E67456-E1A2-5AA6-F759-B3E5396D4B45}"/>
                  </a:ext>
                </a:extLst>
              </p:cNvPr>
              <p:cNvSpPr/>
              <p:nvPr/>
            </p:nvSpPr>
            <p:spPr>
              <a:xfrm>
                <a:off x="6263640" y="5724144"/>
                <a:ext cx="54864" cy="896112"/>
              </a:xfrm>
              <a:prstGeom prst="rect">
                <a:avLst/>
              </a:prstGeom>
              <a:solidFill>
                <a:srgbClr val="02C39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7312C05-F343-B65C-D496-3C324776EC9B}"/>
                  </a:ext>
                </a:extLst>
              </p:cNvPr>
              <p:cNvSpPr txBox="1"/>
              <p:nvPr/>
            </p:nvSpPr>
            <p:spPr>
              <a:xfrm>
                <a:off x="6492240" y="5806440"/>
                <a:ext cx="51206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150" b="1" i="0">
                    <a:solidFill>
                      <a:srgbClr val="FFFFFF"/>
                    </a:solidFill>
                    <a:latin typeface="Calibri"/>
                  </a:rPr>
                  <a:t>S5 — AI Advisor Session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A4740A31-81C0-B5D3-355F-D754679CF89E}"/>
                  </a:ext>
                </a:extLst>
              </p:cNvPr>
              <p:cNvSpPr txBox="1"/>
              <p:nvPr/>
            </p:nvSpPr>
            <p:spPr>
              <a:xfrm>
                <a:off x="6492240" y="6135624"/>
                <a:ext cx="5120640" cy="411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000" b="0" i="0">
                    <a:solidFill>
                      <a:srgbClr val="D0DBE5"/>
                    </a:solidFill>
                    <a:latin typeface="Calibri"/>
                  </a:rPr>
                  <a:t>3-phase backend pipeline + external OpenAI call + 5 s SLA guard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791497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05416-E01C-82C9-0345-FB7410EA0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6C807B7F-4EFF-E53D-0A7F-CAF43E42D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27CE3F9-9E82-F9AC-AA22-2B6A5FB1E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8421B1-8733-601D-BBD8-5AE738AEE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543CBA-9277-537D-6014-8F25EB2B9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2F42F73-6B26-5F2F-343D-786F69C4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DDE9E89-5AED-BE1E-05AF-2E3540392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DA73BE4-E428-3941-3AD2-4244BC65D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76F309-3223-8FD9-D882-958EAC67276D}"/>
              </a:ext>
            </a:extLst>
          </p:cNvPr>
          <p:cNvSpPr txBox="1"/>
          <p:nvPr/>
        </p:nvSpPr>
        <p:spPr>
          <a:xfrm>
            <a:off x="1443436" y="587450"/>
            <a:ext cx="860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 DIAGRAMS PREVIEWS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BAC303-0B70-3D95-052D-06CA6A04797E}"/>
              </a:ext>
            </a:extLst>
          </p:cNvPr>
          <p:cNvGrpSpPr/>
          <p:nvPr/>
        </p:nvGrpSpPr>
        <p:grpSpPr>
          <a:xfrm>
            <a:off x="569373" y="1985819"/>
            <a:ext cx="11152979" cy="3589112"/>
            <a:chOff x="715748" y="2895476"/>
            <a:chExt cx="10760504" cy="264250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8F4AA98-44C1-7B8A-C502-758E7DD1C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48" y="3230993"/>
              <a:ext cx="5131088" cy="189850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1771E73-9ABA-FA94-11E2-9CE769B12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45165" y="2895476"/>
              <a:ext cx="5131087" cy="26425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313586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19C4A-922D-E13C-418B-FD0B9053C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A8EB0AA-70C9-BD1F-4AE8-4108E6820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F5988A0-AB76-54A4-8CFF-247A5FFF8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44EB3DB-ECB7-E029-49BC-97BD14FD2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4127AF5-FB41-68A8-6C0F-5DC29D650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189046C-7D2E-3784-D033-0E14C80A3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8D947C7-C95C-D997-ABBA-38086C5EA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C2032C3-D3CF-57BB-D37B-345C73478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7B508-C029-3585-60B2-D89EF820A134}"/>
              </a:ext>
            </a:extLst>
          </p:cNvPr>
          <p:cNvSpPr txBox="1"/>
          <p:nvPr/>
        </p:nvSpPr>
        <p:spPr>
          <a:xfrm>
            <a:off x="1443436" y="587450"/>
            <a:ext cx="860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 DIAGRAMS PREVIEWS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9A6CC9-E449-41D5-B419-F7F280608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5306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66892-6F84-BB9A-A82C-83AA2252F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8" r="-2" b="2278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5339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FD8001-1C93-C0A5-6648-AE77116A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38C791E2-2044-0963-9748-B06F0BB51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8F1A92E-5CDF-4CA2-C0AB-500EA6112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944CF0-040E-16E5-C9D3-F73A33582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43BF9AE-E431-31E7-9AFD-72936620E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A4C888D-2BE1-3CA4-8390-174CC7748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CD76808-78F6-1BAA-39B2-6ECCA913D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2FA96DD-A398-1D1E-61C9-0D45F6A05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C86F59-AD31-1DA4-4937-851277EF3C07}"/>
              </a:ext>
            </a:extLst>
          </p:cNvPr>
          <p:cNvSpPr txBox="1"/>
          <p:nvPr/>
        </p:nvSpPr>
        <p:spPr>
          <a:xfrm>
            <a:off x="1443436" y="587450"/>
            <a:ext cx="8604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CLASS DIAGRAMS PREVIEWS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8DBEF-1636-90C0-AD97-0260DCBF8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40" y="1908002"/>
            <a:ext cx="11212949" cy="30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48899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E3204-F4D6-CEB0-2BE8-52F41B90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5CDD468D-C94B-0CDC-BB50-9AAEAB8EC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990249-330B-8439-045C-7A49F8587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DBBA46-3501-30CD-8A06-4FAC5147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D902733-CEFA-C2F2-A582-BA0FE7E3B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2E0F963-3E7F-DC9C-D5AB-65886E2B0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A50E22-BC91-E154-5D8F-AAD059537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38C1490-9214-8E89-5898-ABB78A03D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2A9164-BFDB-502A-4C2E-A664FB2EF745}"/>
              </a:ext>
            </a:extLst>
          </p:cNvPr>
          <p:cNvSpPr txBox="1"/>
          <p:nvPr/>
        </p:nvSpPr>
        <p:spPr>
          <a:xfrm>
            <a:off x="819004" y="2556304"/>
            <a:ext cx="43625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STATECHART </a:t>
            </a:r>
          </a:p>
          <a:p>
            <a:r>
              <a:rPr lang="en-US" sz="32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DIAGRAMS SAMPLES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81779F-4B77-422C-A2E2-686B71EE75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3609"/>
            <a:ext cx="4558012" cy="59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6560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E2C092-D888-B69C-341E-96C126B3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EFDE75BD-1D70-30DB-613D-4088DAE7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DFD5AB-BCCE-AE85-6BB7-CCE60F243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8814A-1AD5-0AA0-53FF-40FD2C29B36F}"/>
              </a:ext>
            </a:extLst>
          </p:cNvPr>
          <p:cNvSpPr txBox="1"/>
          <p:nvPr/>
        </p:nvSpPr>
        <p:spPr>
          <a:xfrm>
            <a:off x="2412962" y="3135654"/>
            <a:ext cx="8051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rgbClr val="0A3041"/>
                </a:solidFill>
              </a:rPr>
              <a:t>BASELINE: ZERO-SHOT TEST GENERATION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980586-EDB4-6294-1A24-1F34BAE14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51813E-603A-DD9A-B36C-712C3CBE4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0B50EC2-20FA-A921-CD64-A8D641760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CB7635D-C079-F21D-F2A5-444C591E6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F876E65-7BD4-AACA-CC46-730FDA8EA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944D1-D22F-3B63-DEE2-82220488E725}"/>
              </a:ext>
            </a:extLst>
          </p:cNvPr>
          <p:cNvSpPr txBox="1"/>
          <p:nvPr/>
        </p:nvSpPr>
        <p:spPr>
          <a:xfrm>
            <a:off x="2844987" y="1529608"/>
            <a:ext cx="624125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DEMO: </a:t>
            </a:r>
          </a:p>
          <a:p>
            <a:pPr algn="ctr"/>
            <a:endParaRPr lang="en-US" sz="4000" b="1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i="1" dirty="0">
                <a:solidFill>
                  <a:schemeClr val="bg1"/>
                </a:solidFill>
              </a:rPr>
              <a:t>System Walkthrough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i="1" dirty="0">
                <a:solidFill>
                  <a:schemeClr val="bg1"/>
                </a:solidFill>
              </a:rPr>
              <a:t>Key Features in Action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3" name="Graphic 2" descr="Presentation with media outline">
            <a:extLst>
              <a:ext uri="{FF2B5EF4-FFF2-40B4-BE49-F238E27FC236}">
                <a16:creationId xmlns:a16="http://schemas.microsoft.com/office/drawing/2014/main" id="{F3CDE642-046F-2DE0-C87A-793AD375F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356" y="2404824"/>
            <a:ext cx="3477820" cy="347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6310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CCF25-7BBD-8276-BACA-2E71E6CA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8FEE35B4-623C-E973-677E-8067A473A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12E07F6-B126-C5E8-8C95-FC405E359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A4F16F-31D3-08FA-463C-F8AECB5FA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F8AD58C-5C49-268E-DF7B-EA0456923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EE9BFDA-920D-EE0E-E53C-716E55DE2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5019DFF-5DB5-6FEA-11A8-51DCF7BE2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9CB3D04-3C5C-37D3-2C39-E6A85A9C5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61FBE-1F09-FF30-05C7-DA24B344E5D6}"/>
              </a:ext>
            </a:extLst>
          </p:cNvPr>
          <p:cNvSpPr txBox="1"/>
          <p:nvPr/>
        </p:nvSpPr>
        <p:spPr>
          <a:xfrm>
            <a:off x="1304495" y="305199"/>
            <a:ext cx="8051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TESTING STRATEGY</a:t>
            </a:r>
            <a:endParaRPr lang="en-US" sz="40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632E24-6290-7623-DA65-3E1118A05A77}"/>
              </a:ext>
            </a:extLst>
          </p:cNvPr>
          <p:cNvGrpSpPr/>
          <p:nvPr/>
        </p:nvGrpSpPr>
        <p:grpSpPr>
          <a:xfrm>
            <a:off x="444499" y="1163433"/>
            <a:ext cx="11351261" cy="5219679"/>
            <a:chOff x="548640" y="1417320"/>
            <a:chExt cx="11247120" cy="51206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4E5D1B-E69E-2C77-CA29-8587873E26DF}"/>
                </a:ext>
              </a:extLst>
            </p:cNvPr>
            <p:cNvSpPr/>
            <p:nvPr/>
          </p:nvSpPr>
          <p:spPr>
            <a:xfrm>
              <a:off x="548640" y="1417320"/>
              <a:ext cx="6400800" cy="51206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006F5C-E0C6-3FF8-209A-16BADEA79C87}"/>
                </a:ext>
              </a:extLst>
            </p:cNvPr>
            <p:cNvSpPr/>
            <p:nvPr/>
          </p:nvSpPr>
          <p:spPr>
            <a:xfrm>
              <a:off x="548640" y="1417320"/>
              <a:ext cx="64008" cy="5120640"/>
            </a:xfrm>
            <a:prstGeom prst="rect">
              <a:avLst/>
            </a:prstGeom>
            <a:solidFill>
              <a:srgbClr val="02809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8045F9-C922-C4C8-F627-4EDDBAA1B90B}"/>
                </a:ext>
              </a:extLst>
            </p:cNvPr>
            <p:cNvSpPr txBox="1"/>
            <p:nvPr/>
          </p:nvSpPr>
          <p:spPr>
            <a:xfrm>
              <a:off x="777240" y="1536192"/>
              <a:ext cx="59436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2D3A4A"/>
                  </a:solidFill>
                  <a:latin typeface="Calibri"/>
                </a:rPr>
                <a:t>Test Classes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1E7CAF-0AD2-3314-8C2E-8EAACE0DAC03}"/>
                </a:ext>
              </a:extLst>
            </p:cNvPr>
            <p:cNvSpPr txBox="1"/>
            <p:nvPr/>
          </p:nvSpPr>
          <p:spPr>
            <a:xfrm>
              <a:off x="822960" y="2011680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UserEntityTest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0FAC6D-33DF-8788-5BCB-96A6F57B978B}"/>
                </a:ext>
              </a:extLst>
            </p:cNvPr>
            <p:cNvSpPr txBox="1"/>
            <p:nvPr/>
          </p:nvSpPr>
          <p:spPr>
            <a:xfrm>
              <a:off x="3337560" y="2011680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Email, NotBlank validation via Validator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0781F53-D6FD-7BE7-7796-47E982B531B1}"/>
                </a:ext>
              </a:extLst>
            </p:cNvPr>
            <p:cNvSpPr txBox="1"/>
            <p:nvPr/>
          </p:nvSpPr>
          <p:spPr>
            <a:xfrm>
              <a:off x="822960" y="2459736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IncomeEntityTest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AAC7E6-B513-1C50-E4F8-95E7847BFE9E}"/>
                </a:ext>
              </a:extLst>
            </p:cNvPr>
            <p:cNvSpPr txBox="1"/>
            <p:nvPr/>
          </p:nvSpPr>
          <p:spPr>
            <a:xfrm>
              <a:off x="3337560" y="2459736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Amount &lt; 0.01 rejected, user reference required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53B1C5-D999-EE42-C2A1-E16D57ACEB31}"/>
                </a:ext>
              </a:extLst>
            </p:cNvPr>
            <p:cNvSpPr txBox="1"/>
            <p:nvPr/>
          </p:nvSpPr>
          <p:spPr>
            <a:xfrm>
              <a:off x="822960" y="2907792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ExpenseEntityTest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A417CE-42F9-BB24-C5C4-1847CB00B740}"/>
                </a:ext>
              </a:extLst>
            </p:cNvPr>
            <p:cNvSpPr txBox="1"/>
            <p:nvPr/>
          </p:nvSpPr>
          <p:spPr>
            <a:xfrm>
              <a:off x="3337560" y="2907792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Category NotBlank, date PastOrPresent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D317BE4-40F4-19D3-84E3-E8B8E32FEAA0}"/>
                </a:ext>
              </a:extLst>
            </p:cNvPr>
            <p:cNvSpPr txBox="1"/>
            <p:nvPr/>
          </p:nvSpPr>
          <p:spPr>
            <a:xfrm>
              <a:off x="822960" y="3355848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AuthControllerTest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93F4A3C-36EE-BB74-54DC-E1C577F730F5}"/>
                </a:ext>
              </a:extLst>
            </p:cNvPr>
            <p:cNvSpPr txBox="1"/>
            <p:nvPr/>
          </p:nvSpPr>
          <p:spPr>
            <a:xfrm>
              <a:off x="3337560" y="3355848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Register 200, duplicate 409, login 200, bad creds 401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C81A2E5-AE1B-1AA0-6A7D-53E58A48BAAF}"/>
                </a:ext>
              </a:extLst>
            </p:cNvPr>
            <p:cNvSpPr txBox="1"/>
            <p:nvPr/>
          </p:nvSpPr>
          <p:spPr>
            <a:xfrm>
              <a:off x="822960" y="3803904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IncomeControllerTest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769533-D6EA-C1F3-EFBE-699E9F18DEEA}"/>
                </a:ext>
              </a:extLst>
            </p:cNvPr>
            <p:cNvSpPr txBox="1"/>
            <p:nvPr/>
          </p:nvSpPr>
          <p:spPr>
            <a:xfrm>
              <a:off x="3337560" y="3803904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GET with JWT 200, no JWT 401, cross-user DELETE 403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5CDCF9-9487-212C-E0BE-F788AAA553A8}"/>
                </a:ext>
              </a:extLst>
            </p:cNvPr>
            <p:cNvSpPr txBox="1"/>
            <p:nvPr/>
          </p:nvSpPr>
          <p:spPr>
            <a:xfrm>
              <a:off x="822960" y="4251960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ExpenseControllerTest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3527E1-B29A-E0D7-3353-A6F0A5732C14}"/>
                </a:ext>
              </a:extLst>
            </p:cNvPr>
            <p:cNvSpPr txBox="1"/>
            <p:nvPr/>
          </p:nvSpPr>
          <p:spPr>
            <a:xfrm>
              <a:off x="3337560" y="4251960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Same matrix as Income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25BD5E-E1D5-A65A-BB7D-FFA89322872F}"/>
                </a:ext>
              </a:extLst>
            </p:cNvPr>
            <p:cNvSpPr txBox="1"/>
            <p:nvPr/>
          </p:nvSpPr>
          <p:spPr>
            <a:xfrm>
              <a:off x="822960" y="4700016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DashboardControllerTest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2A57EF-680B-A305-2AC7-B00C79D383EE}"/>
                </a:ext>
              </a:extLst>
            </p:cNvPr>
            <p:cNvSpPr txBox="1"/>
            <p:nvPr/>
          </p:nvSpPr>
          <p:spPr>
            <a:xfrm>
              <a:off x="3337560" y="4700016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Totals correct, recentIncome size ≤ 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A43899C-4384-0DEF-1A4F-BB654297837D}"/>
                </a:ext>
              </a:extLst>
            </p:cNvPr>
            <p:cNvSpPr txBox="1"/>
            <p:nvPr/>
          </p:nvSpPr>
          <p:spPr>
            <a:xfrm>
              <a:off x="822960" y="5148072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TuitionControllerTest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A1D05E-6D49-D957-9605-DAE950EBD9E7}"/>
                </a:ext>
              </a:extLst>
            </p:cNvPr>
            <p:cNvSpPr txBox="1"/>
            <p:nvPr/>
          </p:nvSpPr>
          <p:spPr>
            <a:xfrm>
              <a:off x="3337560" y="5148072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Affordable=true/false branches, short-by-X message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F01E2EE-B92A-E46A-C02C-F546EBE4C58A}"/>
                </a:ext>
              </a:extLst>
            </p:cNvPr>
            <p:cNvSpPr txBox="1"/>
            <p:nvPr/>
          </p:nvSpPr>
          <p:spPr>
            <a:xfrm>
              <a:off x="822960" y="5596128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PredictionServiceTest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5DC716-08EC-06F3-0F9E-81756CBA1D6A}"/>
                </a:ext>
              </a:extLst>
            </p:cNvPr>
            <p:cNvSpPr txBox="1"/>
            <p:nvPr/>
          </p:nvSpPr>
          <p:spPr>
            <a:xfrm>
              <a:off x="3337560" y="5596128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&lt; 3 months → 422; ≥ 3 months → arithmetic mean to 2dp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063BD6-6A34-83F5-1EC3-8D7BC4EF700D}"/>
                </a:ext>
              </a:extLst>
            </p:cNvPr>
            <p:cNvSpPr txBox="1"/>
            <p:nvPr/>
          </p:nvSpPr>
          <p:spPr>
            <a:xfrm>
              <a:off x="822960" y="6044184"/>
              <a:ext cx="246888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1" i="0">
                  <a:solidFill>
                    <a:srgbClr val="028090"/>
                  </a:solidFill>
                  <a:latin typeface="Calibri"/>
                </a:rPr>
                <a:t>WhatIfSimulationServiceTest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4FBA41-3BB9-DBE7-412D-A28C47E58784}"/>
                </a:ext>
              </a:extLst>
            </p:cNvPr>
            <p:cNvSpPr txBox="1"/>
            <p:nvPr/>
          </p:nvSpPr>
          <p:spPr>
            <a:xfrm>
              <a:off x="3337560" y="6044184"/>
              <a:ext cx="347472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2D3A4A"/>
                  </a:solidFill>
                  <a:latin typeface="Calibri"/>
                </a:rPr>
                <a:t>Surplus/deficit/break-even verdicts; timeline length check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FA09DA1-FC3B-958A-FD24-11C1B0E50592}"/>
                </a:ext>
              </a:extLst>
            </p:cNvPr>
            <p:cNvSpPr/>
            <p:nvPr/>
          </p:nvSpPr>
          <p:spPr>
            <a:xfrm>
              <a:off x="7223760" y="1417320"/>
              <a:ext cx="4572000" cy="51206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F392F17-086A-462E-B1FD-56103ECE685A}"/>
                </a:ext>
              </a:extLst>
            </p:cNvPr>
            <p:cNvSpPr/>
            <p:nvPr/>
          </p:nvSpPr>
          <p:spPr>
            <a:xfrm>
              <a:off x="7223760" y="1417320"/>
              <a:ext cx="64008" cy="5120640"/>
            </a:xfrm>
            <a:prstGeom prst="rect">
              <a:avLst/>
            </a:prstGeom>
            <a:solidFill>
              <a:srgbClr val="062A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BF60F0-2EA6-F6A2-B7FB-500F96657A36}"/>
                </a:ext>
              </a:extLst>
            </p:cNvPr>
            <p:cNvSpPr txBox="1"/>
            <p:nvPr/>
          </p:nvSpPr>
          <p:spPr>
            <a:xfrm>
              <a:off x="7452360" y="1536192"/>
              <a:ext cx="42062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2D3A4A"/>
                  </a:solidFill>
                  <a:latin typeface="Calibri"/>
                </a:rPr>
                <a:t>Coverage Matrix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D4F18DD-ADC8-11A8-2B3E-9D3659AEA304}"/>
                </a:ext>
              </a:extLst>
            </p:cNvPr>
            <p:cNvSpPr/>
            <p:nvPr/>
          </p:nvSpPr>
          <p:spPr>
            <a:xfrm>
              <a:off x="7406640" y="2011680"/>
              <a:ext cx="4206240" cy="493776"/>
            </a:xfrm>
            <a:prstGeom prst="rect">
              <a:avLst/>
            </a:prstGeom>
            <a:solidFill>
              <a:srgbClr val="F2F7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052ED6-4D8C-2575-088D-DB65F000CBF5}"/>
                </a:ext>
              </a:extLst>
            </p:cNvPr>
            <p:cNvSpPr txBox="1"/>
            <p:nvPr/>
          </p:nvSpPr>
          <p:spPr>
            <a:xfrm>
              <a:off x="7498079" y="2075688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Happy path (200)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C107047-0BF1-1791-4A0C-36DA8056F46F}"/>
                </a:ext>
              </a:extLst>
            </p:cNvPr>
            <p:cNvSpPr txBox="1"/>
            <p:nvPr/>
          </p:nvSpPr>
          <p:spPr>
            <a:xfrm>
              <a:off x="9555480" y="2075688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✓ all protected endpoints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8330B9-E2D1-3E08-7C3E-70496A6290DB}"/>
                </a:ext>
              </a:extLst>
            </p:cNvPr>
            <p:cNvSpPr/>
            <p:nvPr/>
          </p:nvSpPr>
          <p:spPr>
            <a:xfrm>
              <a:off x="7406640" y="2569464"/>
              <a:ext cx="4206240" cy="493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BDB11BC-7EC3-566B-2588-0EA6EA444217}"/>
                </a:ext>
              </a:extLst>
            </p:cNvPr>
            <p:cNvSpPr txBox="1"/>
            <p:nvPr/>
          </p:nvSpPr>
          <p:spPr>
            <a:xfrm>
              <a:off x="7498079" y="2633472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401 — No token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DBD5786-EA85-D4BB-1878-98A9670E0C86}"/>
                </a:ext>
              </a:extLst>
            </p:cNvPr>
            <p:cNvSpPr txBox="1"/>
            <p:nvPr/>
          </p:nvSpPr>
          <p:spPr>
            <a:xfrm>
              <a:off x="9555480" y="2633472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✓ every non-auth endpoint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1016B3-A87F-1D55-D44D-B10E97AFFF5D}"/>
                </a:ext>
              </a:extLst>
            </p:cNvPr>
            <p:cNvSpPr/>
            <p:nvPr/>
          </p:nvSpPr>
          <p:spPr>
            <a:xfrm>
              <a:off x="7406640" y="3127248"/>
              <a:ext cx="4206240" cy="493776"/>
            </a:xfrm>
            <a:prstGeom prst="rect">
              <a:avLst/>
            </a:prstGeom>
            <a:solidFill>
              <a:srgbClr val="F2F7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855DEDE-B546-4801-79DA-DCB1A851F12C}"/>
                </a:ext>
              </a:extLst>
            </p:cNvPr>
            <p:cNvSpPr txBox="1"/>
            <p:nvPr/>
          </p:nvSpPr>
          <p:spPr>
            <a:xfrm>
              <a:off x="7498079" y="3191256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403 — Cross-user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56A95A-A5C5-58D9-3670-F2A667745B5C}"/>
                </a:ext>
              </a:extLst>
            </p:cNvPr>
            <p:cNvSpPr txBox="1"/>
            <p:nvPr/>
          </p:nvSpPr>
          <p:spPr>
            <a:xfrm>
              <a:off x="9555480" y="3191256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✓ update &amp; delete operations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516DA86-FAE6-D76C-2EDB-EE6AF58790FE}"/>
                </a:ext>
              </a:extLst>
            </p:cNvPr>
            <p:cNvSpPr/>
            <p:nvPr/>
          </p:nvSpPr>
          <p:spPr>
            <a:xfrm>
              <a:off x="7406640" y="3685032"/>
              <a:ext cx="4206240" cy="493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8088270-BD56-4B2E-012B-98D7082AF6C7}"/>
                </a:ext>
              </a:extLst>
            </p:cNvPr>
            <p:cNvSpPr txBox="1"/>
            <p:nvPr/>
          </p:nvSpPr>
          <p:spPr>
            <a:xfrm>
              <a:off x="7498079" y="3749040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409 — Duplicate email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707F566-392A-EC26-211C-EF3D92F0E9DD}"/>
                </a:ext>
              </a:extLst>
            </p:cNvPr>
            <p:cNvSpPr txBox="1"/>
            <p:nvPr/>
          </p:nvSpPr>
          <p:spPr>
            <a:xfrm>
              <a:off x="9555480" y="3749040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✓ AuthController.register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1E26C7-6453-4532-F946-61F98F80B5A6}"/>
                </a:ext>
              </a:extLst>
            </p:cNvPr>
            <p:cNvSpPr/>
            <p:nvPr/>
          </p:nvSpPr>
          <p:spPr>
            <a:xfrm>
              <a:off x="7406640" y="4242816"/>
              <a:ext cx="4206240" cy="493776"/>
            </a:xfrm>
            <a:prstGeom prst="rect">
              <a:avLst/>
            </a:prstGeom>
            <a:solidFill>
              <a:srgbClr val="F2F7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EF91DD0-D451-39E0-F7B3-8C3C25FA0F31}"/>
                </a:ext>
              </a:extLst>
            </p:cNvPr>
            <p:cNvSpPr txBox="1"/>
            <p:nvPr/>
          </p:nvSpPr>
          <p:spPr>
            <a:xfrm>
              <a:off x="7498079" y="4306824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422 — Insufficient data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88C008F-CD90-4CA5-8428-ABFD110F4B22}"/>
                </a:ext>
              </a:extLst>
            </p:cNvPr>
            <p:cNvSpPr txBox="1"/>
            <p:nvPr/>
          </p:nvSpPr>
          <p:spPr>
            <a:xfrm>
              <a:off x="9555480" y="4306824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✓ PredictionService &lt; 3 months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512F496-C211-1A3E-7AAF-14B0B5F9B2AD}"/>
                </a:ext>
              </a:extLst>
            </p:cNvPr>
            <p:cNvSpPr/>
            <p:nvPr/>
          </p:nvSpPr>
          <p:spPr>
            <a:xfrm>
              <a:off x="7406640" y="4800600"/>
              <a:ext cx="4206240" cy="493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0090A04-F60D-3A46-872B-8C34813992C2}"/>
                </a:ext>
              </a:extLst>
            </p:cNvPr>
            <p:cNvSpPr txBox="1"/>
            <p:nvPr/>
          </p:nvSpPr>
          <p:spPr>
            <a:xfrm>
              <a:off x="7498079" y="4864608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400 — Bad Request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387D8DC-A40F-103B-EFDB-DA0154D236D6}"/>
                </a:ext>
              </a:extLst>
            </p:cNvPr>
            <p:cNvSpPr txBox="1"/>
            <p:nvPr/>
          </p:nvSpPr>
          <p:spPr>
            <a:xfrm>
              <a:off x="9555480" y="4864608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✓ all validation failures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07A419F-0976-0567-E43F-CBC8A008E2A0}"/>
                </a:ext>
              </a:extLst>
            </p:cNvPr>
            <p:cNvSpPr/>
            <p:nvPr/>
          </p:nvSpPr>
          <p:spPr>
            <a:xfrm>
              <a:off x="7406640" y="5358384"/>
              <a:ext cx="4206240" cy="493776"/>
            </a:xfrm>
            <a:prstGeom prst="rect">
              <a:avLst/>
            </a:prstGeom>
            <a:solidFill>
              <a:srgbClr val="F2F7F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DECD31D-C502-1158-FC25-6FA36A6AE0AE}"/>
                </a:ext>
              </a:extLst>
            </p:cNvPr>
            <p:cNvSpPr txBox="1"/>
            <p:nvPr/>
          </p:nvSpPr>
          <p:spPr>
            <a:xfrm>
              <a:off x="7498079" y="5422392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BigDecimal precision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73586B5-1F3A-FC13-AFBD-1EF3C8D255F9}"/>
                </a:ext>
              </a:extLst>
            </p:cNvPr>
            <p:cNvSpPr txBox="1"/>
            <p:nvPr/>
          </p:nvSpPr>
          <p:spPr>
            <a:xfrm>
              <a:off x="9555480" y="5422392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✓ HALF_UP, 2 decimal places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D9D99BC-040B-D356-60E7-1F91979A273E}"/>
                </a:ext>
              </a:extLst>
            </p:cNvPr>
            <p:cNvSpPr/>
            <p:nvPr/>
          </p:nvSpPr>
          <p:spPr>
            <a:xfrm>
              <a:off x="7406640" y="5916168"/>
              <a:ext cx="4206240" cy="4937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52E828F-7438-AD54-BE15-AD7C0DF82B69}"/>
                </a:ext>
              </a:extLst>
            </p:cNvPr>
            <p:cNvSpPr txBox="1"/>
            <p:nvPr/>
          </p:nvSpPr>
          <p:spPr>
            <a:xfrm>
              <a:off x="7498079" y="5980176"/>
              <a:ext cx="20116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D3A4A"/>
                  </a:solidFill>
                  <a:latin typeface="Calibri"/>
                </a:rPr>
                <a:t>Test naming convention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663A11C-DBF1-20AD-9237-3DAC5208007A}"/>
                </a:ext>
              </a:extLst>
            </p:cNvPr>
            <p:cNvSpPr txBox="1"/>
            <p:nvPr/>
          </p:nvSpPr>
          <p:spPr>
            <a:xfrm>
              <a:off x="9555480" y="5980176"/>
              <a:ext cx="219456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5A6A7A"/>
                  </a:solidFill>
                  <a:latin typeface="Calibri"/>
                </a:rPr>
                <a:t>given_when_then style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41791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07A9F-A412-C564-48A2-5C2E79A4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FB7531CC-0680-CD58-0F70-5A242802B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697865A-A60D-192E-6F89-DC8941D63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11CFAB3-4CC4-D6FE-A05A-3619C2B8F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9837672-1964-678A-E33D-8905D6B12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4B000BA-C9E4-8CBB-7DE8-01AD97CF2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C48114D-3D9D-0021-AD9D-F36BE3531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6F00EBB-3C0E-E0AE-7995-9BACB04C0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5D75E1-7D2B-6B80-27C6-AEF17981B2AC}"/>
              </a:ext>
            </a:extLst>
          </p:cNvPr>
          <p:cNvSpPr txBox="1"/>
          <p:nvPr/>
        </p:nvSpPr>
        <p:spPr>
          <a:xfrm>
            <a:off x="1304495" y="305199"/>
            <a:ext cx="8051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PROMPT ENGINEERING</a:t>
            </a:r>
            <a:endParaRPr lang="en-US" sz="40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9E129667-738F-BCA8-38D0-870729C674C5}"/>
              </a:ext>
            </a:extLst>
          </p:cNvPr>
          <p:cNvGrpSpPr/>
          <p:nvPr/>
        </p:nvGrpSpPr>
        <p:grpSpPr>
          <a:xfrm>
            <a:off x="2208515" y="1318281"/>
            <a:ext cx="2072030" cy="4297680"/>
            <a:chOff x="457200" y="1508760"/>
            <a:chExt cx="2072030" cy="429768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E5A293D0-837E-DD59-D528-554E2062290D}"/>
                </a:ext>
              </a:extLst>
            </p:cNvPr>
            <p:cNvGrpSpPr/>
            <p:nvPr/>
          </p:nvGrpSpPr>
          <p:grpSpPr>
            <a:xfrm>
              <a:off x="457200" y="1508760"/>
              <a:ext cx="2072030" cy="2301240"/>
              <a:chOff x="457200" y="1508760"/>
              <a:chExt cx="2072030" cy="2301240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E1473CC4-E56B-07C0-06DF-5CFBC99AB169}"/>
                  </a:ext>
                </a:extLst>
              </p:cNvPr>
              <p:cNvSpPr/>
              <p:nvPr/>
            </p:nvSpPr>
            <p:spPr>
              <a:xfrm>
                <a:off x="457200" y="1508760"/>
                <a:ext cx="2072030" cy="230124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022A030D-2F9E-9525-6A4E-AB591EE6D4CF}"/>
                  </a:ext>
                </a:extLst>
              </p:cNvPr>
              <p:cNvSpPr/>
              <p:nvPr/>
            </p:nvSpPr>
            <p:spPr>
              <a:xfrm>
                <a:off x="457200" y="1508760"/>
                <a:ext cx="2072030" cy="457200"/>
              </a:xfrm>
              <a:prstGeom prst="rect">
                <a:avLst/>
              </a:prstGeom>
              <a:solidFill>
                <a:srgbClr val="02809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CE0F482-C2FC-1F34-A080-0B39286F5E0F}"/>
                  </a:ext>
                </a:extLst>
              </p:cNvPr>
              <p:cNvSpPr txBox="1"/>
              <p:nvPr/>
            </p:nvSpPr>
            <p:spPr>
              <a:xfrm>
                <a:off x="548640" y="1536192"/>
                <a:ext cx="3200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 i="0">
                    <a:solidFill>
                      <a:srgbClr val="FFFFFF"/>
                    </a:solidFill>
                    <a:latin typeface="Calibri"/>
                  </a:rPr>
                  <a:t>1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92C91D3-0140-74BD-2EBB-8C29E83B47C3}"/>
                  </a:ext>
                </a:extLst>
              </p:cNvPr>
              <p:cNvSpPr txBox="1"/>
              <p:nvPr/>
            </p:nvSpPr>
            <p:spPr>
              <a:xfrm>
                <a:off x="548640" y="2011680"/>
                <a:ext cx="198059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 dirty="0">
                    <a:solidFill>
                      <a:srgbClr val="FFFFFF"/>
                    </a:solidFill>
                    <a:latin typeface="Calibri"/>
                  </a:rPr>
                  <a:t>Sandwich Method</a:t>
                </a: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6FBB14B-4BD5-5D39-3C91-2ACA55B9647A}"/>
                </a:ext>
              </a:extLst>
            </p:cNvPr>
            <p:cNvSpPr txBox="1"/>
            <p:nvPr/>
          </p:nvSpPr>
          <p:spPr>
            <a:xfrm>
              <a:off x="594360" y="2606040"/>
              <a:ext cx="1934870" cy="3200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Critical requirement stated at top AND bottom of every prompt — prevents key constraints from getting lost mid-context.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6AB3387-3131-F190-4DAF-89ECDE8E9085}"/>
              </a:ext>
            </a:extLst>
          </p:cNvPr>
          <p:cNvGrpSpPr/>
          <p:nvPr/>
        </p:nvGrpSpPr>
        <p:grpSpPr>
          <a:xfrm>
            <a:off x="4463425" y="1318281"/>
            <a:ext cx="2072030" cy="4297680"/>
            <a:chOff x="2712110" y="1508760"/>
            <a:chExt cx="2072030" cy="4297680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7688A20-5CD0-309F-ABB1-AD254A5BC2FE}"/>
                </a:ext>
              </a:extLst>
            </p:cNvPr>
            <p:cNvGrpSpPr/>
            <p:nvPr/>
          </p:nvGrpSpPr>
          <p:grpSpPr>
            <a:xfrm>
              <a:off x="2712110" y="1508760"/>
              <a:ext cx="2072030" cy="2301240"/>
              <a:chOff x="2712110" y="1508760"/>
              <a:chExt cx="2072030" cy="2301240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E709FD3-8A98-4BD0-F344-268DC7C59022}"/>
                  </a:ext>
                </a:extLst>
              </p:cNvPr>
              <p:cNvSpPr/>
              <p:nvPr/>
            </p:nvSpPr>
            <p:spPr>
              <a:xfrm>
                <a:off x="2712110" y="1508760"/>
                <a:ext cx="2072030" cy="230124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B5F6E74-2354-1C7B-F567-DB50B3375EBE}"/>
                  </a:ext>
                </a:extLst>
              </p:cNvPr>
              <p:cNvSpPr/>
              <p:nvPr/>
            </p:nvSpPr>
            <p:spPr>
              <a:xfrm>
                <a:off x="2712110" y="1508760"/>
                <a:ext cx="2072030" cy="457200"/>
              </a:xfrm>
              <a:prstGeom prst="rect">
                <a:avLst/>
              </a:prstGeom>
              <a:solidFill>
                <a:srgbClr val="02557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D8E9925-643F-6FA2-D366-81519E086AFD}"/>
                  </a:ext>
                </a:extLst>
              </p:cNvPr>
              <p:cNvSpPr txBox="1"/>
              <p:nvPr/>
            </p:nvSpPr>
            <p:spPr>
              <a:xfrm>
                <a:off x="2803550" y="1536192"/>
                <a:ext cx="3200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 i="0">
                    <a:solidFill>
                      <a:srgbClr val="FFFFFF"/>
                    </a:solidFill>
                    <a:latin typeface="Calibri"/>
                  </a:rPr>
                  <a:t>2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9020FF6-0DE7-566D-92C3-1701A784263F}"/>
                  </a:ext>
                </a:extLst>
              </p:cNvPr>
              <p:cNvSpPr txBox="1"/>
              <p:nvPr/>
            </p:nvSpPr>
            <p:spPr>
              <a:xfrm>
                <a:off x="2803550" y="2011680"/>
                <a:ext cx="198059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Attention Anchoring</a:t>
                </a:r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D1ADE48-826C-DD0C-6604-0138FEEA83EA}"/>
                </a:ext>
              </a:extLst>
            </p:cNvPr>
            <p:cNvSpPr txBox="1"/>
            <p:nvPr/>
          </p:nvSpPr>
          <p:spPr>
            <a:xfrm>
              <a:off x="2849270" y="2606040"/>
              <a:ext cx="1934870" cy="3200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MANDATORY, CRITICAL, DO NOT in capitals placed inline at the exact step they govern — the model cannot miss them.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714D9A3-A882-B1BE-E084-821B406C4292}"/>
              </a:ext>
            </a:extLst>
          </p:cNvPr>
          <p:cNvGrpSpPr/>
          <p:nvPr/>
        </p:nvGrpSpPr>
        <p:grpSpPr>
          <a:xfrm>
            <a:off x="6718335" y="1318281"/>
            <a:ext cx="2072030" cy="4297680"/>
            <a:chOff x="4967020" y="1508760"/>
            <a:chExt cx="2072030" cy="4297680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40597CE3-7EA7-545C-0713-09935B3A332A}"/>
                </a:ext>
              </a:extLst>
            </p:cNvPr>
            <p:cNvGrpSpPr/>
            <p:nvPr/>
          </p:nvGrpSpPr>
          <p:grpSpPr>
            <a:xfrm>
              <a:off x="4967020" y="1508760"/>
              <a:ext cx="2072030" cy="2301240"/>
              <a:chOff x="4967020" y="1508760"/>
              <a:chExt cx="2072030" cy="2301240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B92FB71-64EC-2FC3-3529-094DB9372862}"/>
                  </a:ext>
                </a:extLst>
              </p:cNvPr>
              <p:cNvSpPr/>
              <p:nvPr/>
            </p:nvSpPr>
            <p:spPr>
              <a:xfrm>
                <a:off x="4967020" y="1508760"/>
                <a:ext cx="2072030" cy="230124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F3F63373-0C95-D5D4-5350-7C1D355281D2}"/>
                  </a:ext>
                </a:extLst>
              </p:cNvPr>
              <p:cNvSpPr/>
              <p:nvPr/>
            </p:nvSpPr>
            <p:spPr>
              <a:xfrm>
                <a:off x="4967020" y="1508760"/>
                <a:ext cx="2072030" cy="457200"/>
              </a:xfrm>
              <a:prstGeom prst="rect">
                <a:avLst/>
              </a:prstGeom>
              <a:solidFill>
                <a:srgbClr val="036B5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CD69DEF-DCAE-E8CB-B8C1-2FA2385970F0}"/>
                  </a:ext>
                </a:extLst>
              </p:cNvPr>
              <p:cNvSpPr txBox="1"/>
              <p:nvPr/>
            </p:nvSpPr>
            <p:spPr>
              <a:xfrm>
                <a:off x="5058460" y="1536192"/>
                <a:ext cx="3200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 i="0">
                    <a:solidFill>
                      <a:srgbClr val="FFFFFF"/>
                    </a:solidFill>
                    <a:latin typeface="Calibri"/>
                  </a:rPr>
                  <a:t>3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F691B01-D946-EAD0-8F7E-F44B750B9035}"/>
                  </a:ext>
                </a:extLst>
              </p:cNvPr>
              <p:cNvSpPr txBox="1"/>
              <p:nvPr/>
            </p:nvSpPr>
            <p:spPr>
              <a:xfrm>
                <a:off x="5058460" y="2011680"/>
                <a:ext cx="198059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Visual Emphasis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F035935-6291-4B7A-4DBA-56940B128291}"/>
                </a:ext>
              </a:extLst>
            </p:cNvPr>
            <p:cNvSpPr txBox="1"/>
            <p:nvPr/>
          </p:nvSpPr>
          <p:spPr>
            <a:xfrm>
              <a:off x="5104180" y="2606040"/>
              <a:ext cx="1934870" cy="3200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>
                  <a:solidFill>
                    <a:srgbClr val="D0DBE5"/>
                  </a:solidFill>
                  <a:latin typeface="Calibri"/>
                </a:rPr>
                <a:t>Bold text, inline code, and fenced code blocks separate instructions from narrative filler, reducing ambiguity.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6C585D6-158E-A115-3970-BC8028F7AE7C}"/>
              </a:ext>
            </a:extLst>
          </p:cNvPr>
          <p:cNvGrpSpPr/>
          <p:nvPr/>
        </p:nvGrpSpPr>
        <p:grpSpPr>
          <a:xfrm>
            <a:off x="3249553" y="3954329"/>
            <a:ext cx="2072030" cy="4297680"/>
            <a:chOff x="7221931" y="1508760"/>
            <a:chExt cx="2072030" cy="4297680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33B9E60C-040E-4E05-A09E-ADF6D06C4932}"/>
                </a:ext>
              </a:extLst>
            </p:cNvPr>
            <p:cNvGrpSpPr/>
            <p:nvPr/>
          </p:nvGrpSpPr>
          <p:grpSpPr>
            <a:xfrm>
              <a:off x="7221931" y="1508760"/>
              <a:ext cx="2072030" cy="2301240"/>
              <a:chOff x="7221931" y="1508760"/>
              <a:chExt cx="2072030" cy="2301240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731671E-0AB6-6EA9-0F86-47F4DF8789AA}"/>
                  </a:ext>
                </a:extLst>
              </p:cNvPr>
              <p:cNvSpPr/>
              <p:nvPr/>
            </p:nvSpPr>
            <p:spPr>
              <a:xfrm>
                <a:off x="7221931" y="1508760"/>
                <a:ext cx="2072030" cy="230124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F3957CB3-C4E1-E9F6-AD07-CCF6C6DAD999}"/>
                  </a:ext>
                </a:extLst>
              </p:cNvPr>
              <p:cNvSpPr/>
              <p:nvPr/>
            </p:nvSpPr>
            <p:spPr>
              <a:xfrm>
                <a:off x="7221931" y="1508760"/>
                <a:ext cx="2072030" cy="457200"/>
              </a:xfrm>
              <a:prstGeom prst="rect">
                <a:avLst/>
              </a:prstGeom>
              <a:solidFill>
                <a:srgbClr val="442B7A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758B311-4DF0-23CD-E5F9-15D48B29DDD9}"/>
                  </a:ext>
                </a:extLst>
              </p:cNvPr>
              <p:cNvSpPr txBox="1"/>
              <p:nvPr/>
            </p:nvSpPr>
            <p:spPr>
              <a:xfrm>
                <a:off x="7313371" y="1536192"/>
                <a:ext cx="3200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 i="0">
                    <a:solidFill>
                      <a:srgbClr val="FFFFFF"/>
                    </a:solidFill>
                    <a:latin typeface="Calibri"/>
                  </a:rPr>
                  <a:t>4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19742B0-9188-7EA4-50D7-C90BF410FF2E}"/>
                  </a:ext>
                </a:extLst>
              </p:cNvPr>
              <p:cNvSpPr txBox="1"/>
              <p:nvPr/>
            </p:nvSpPr>
            <p:spPr>
              <a:xfrm>
                <a:off x="7313371" y="2011680"/>
                <a:ext cx="198059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Clear Delimiters</a:t>
                </a:r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A63C03F-89E3-801D-9091-3FD191CB997F}"/>
                </a:ext>
              </a:extLst>
            </p:cNvPr>
            <p:cNvSpPr txBox="1"/>
            <p:nvPr/>
          </p:nvSpPr>
          <p:spPr>
            <a:xfrm>
              <a:off x="7359091" y="2606040"/>
              <a:ext cx="1934870" cy="3200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 dirty="0">
                  <a:solidFill>
                    <a:srgbClr val="D0DBE5"/>
                  </a:solidFill>
                  <a:latin typeface="Calibri"/>
                </a:rPr>
                <a:t>### sub-headings and triple-backtick fences let the model parse sections unambiguously without guessing structure.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5DBBE5-35CB-214A-2BFC-412F202F373E}"/>
              </a:ext>
            </a:extLst>
          </p:cNvPr>
          <p:cNvGrpSpPr/>
          <p:nvPr/>
        </p:nvGrpSpPr>
        <p:grpSpPr>
          <a:xfrm>
            <a:off x="5504463" y="3954329"/>
            <a:ext cx="2072030" cy="4297680"/>
            <a:chOff x="9476841" y="1508760"/>
            <a:chExt cx="2072030" cy="429768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C4A2BBBD-DFDD-81D7-F64A-6A648976559C}"/>
                </a:ext>
              </a:extLst>
            </p:cNvPr>
            <p:cNvGrpSpPr/>
            <p:nvPr/>
          </p:nvGrpSpPr>
          <p:grpSpPr>
            <a:xfrm>
              <a:off x="9476841" y="1508760"/>
              <a:ext cx="2072030" cy="2301240"/>
              <a:chOff x="9476841" y="1508760"/>
              <a:chExt cx="2072030" cy="230124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2F54D36-99BF-FF61-B2CF-3B9ECF64CB02}"/>
                  </a:ext>
                </a:extLst>
              </p:cNvPr>
              <p:cNvSpPr/>
              <p:nvPr/>
            </p:nvSpPr>
            <p:spPr>
              <a:xfrm>
                <a:off x="9476841" y="1508760"/>
                <a:ext cx="2072030" cy="2301240"/>
              </a:xfrm>
              <a:prstGeom prst="rect">
                <a:avLst/>
              </a:prstGeom>
              <a:solidFill>
                <a:srgbClr val="08385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28D13A8-26FB-D5F8-0B06-5B7D8DBE4E58}"/>
                  </a:ext>
                </a:extLst>
              </p:cNvPr>
              <p:cNvSpPr/>
              <p:nvPr/>
            </p:nvSpPr>
            <p:spPr>
              <a:xfrm>
                <a:off x="9476841" y="1508760"/>
                <a:ext cx="2072030" cy="457200"/>
              </a:xfrm>
              <a:prstGeom prst="rect">
                <a:avLst/>
              </a:prstGeom>
              <a:solidFill>
                <a:srgbClr val="F5A623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3965704-9AC5-2B80-98DB-1F053FA41B42}"/>
                  </a:ext>
                </a:extLst>
              </p:cNvPr>
              <p:cNvSpPr txBox="1"/>
              <p:nvPr/>
            </p:nvSpPr>
            <p:spPr>
              <a:xfrm>
                <a:off x="9568281" y="1536192"/>
                <a:ext cx="320040" cy="3200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400" b="1" i="0">
                    <a:solidFill>
                      <a:srgbClr val="FFFFFF"/>
                    </a:solidFill>
                    <a:latin typeface="Calibri"/>
                  </a:rPr>
                  <a:t>5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48151E74-CBF0-4DF5-111E-09598D75DF76}"/>
                  </a:ext>
                </a:extLst>
              </p:cNvPr>
              <p:cNvSpPr txBox="1"/>
              <p:nvPr/>
            </p:nvSpPr>
            <p:spPr>
              <a:xfrm>
                <a:off x="9568281" y="2011680"/>
                <a:ext cx="1980590" cy="457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FFFFFF"/>
                    </a:solidFill>
                    <a:latin typeface="Calibri"/>
                  </a:rPr>
                  <a:t>Selective Context</a:t>
                </a:r>
              </a:p>
            </p:txBody>
          </p:sp>
        </p:grp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6D4283E-D687-31AD-BE07-F05582FFC144}"/>
                </a:ext>
              </a:extLst>
            </p:cNvPr>
            <p:cNvSpPr txBox="1"/>
            <p:nvPr/>
          </p:nvSpPr>
          <p:spPr>
            <a:xfrm>
              <a:off x="9614001" y="2606040"/>
              <a:ext cx="1934870" cy="3200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50" b="0" i="0">
                  <a:solidFill>
                    <a:srgbClr val="D0DBE5"/>
                  </a:solidFill>
                  <a:latin typeface="Calibri"/>
                </a:rPr>
                <a:t>Each prompt carries ONLY the entity shapes, sibling filenames, and DTO names relevant to that one component.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211218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76911-1070-65F1-8518-02130F35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220513A6-E737-F8AE-8D78-5E21A3FB6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6C8233-ADBB-85FD-A282-99340A7F4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3C696-C9F0-C708-44DB-7C6EE5A0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1CF4F34-829F-61EB-3863-0BC81ACFD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8B706CF-EDFF-79DA-A182-82EE0FA0F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777F2EE-9410-100A-6C13-399201C65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38B299A-311C-D9FF-5294-F395FA0D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C3571F-685B-6052-26B0-A78642C3E679}"/>
              </a:ext>
            </a:extLst>
          </p:cNvPr>
          <p:cNvSpPr txBox="1"/>
          <p:nvPr/>
        </p:nvSpPr>
        <p:spPr>
          <a:xfrm>
            <a:off x="1570138" y="474888"/>
            <a:ext cx="8051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SUMMARY &amp; CONCLUSION</a:t>
            </a:r>
            <a:endParaRPr lang="en-US" sz="4000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aphicFrame>
        <p:nvGraphicFramePr>
          <p:cNvPr id="15" name="Rectangle 2">
            <a:extLst>
              <a:ext uri="{FF2B5EF4-FFF2-40B4-BE49-F238E27FC236}">
                <a16:creationId xmlns:a16="http://schemas.microsoft.com/office/drawing/2014/main" id="{6CA8A8B1-9AA8-B23C-A5C3-1DFDB7881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4969012"/>
              </p:ext>
            </p:extLst>
          </p:nvPr>
        </p:nvGraphicFramePr>
        <p:xfrm>
          <a:off x="838200" y="1657659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9310019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11860-E942-F7DB-47C0-CDE78ABCA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56D63398-EEE4-4E6A-BEF3-E92924A28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0"/>
            <a:ext cx="12226755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6804B24-17AC-406D-9636-1332F5DF9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03156" y="-2460574"/>
            <a:ext cx="6859919" cy="1177723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23" y="-864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8000"/>
                </a:schemeClr>
              </a:gs>
              <a:gs pos="99000">
                <a:srgbClr val="000000">
                  <a:alpha val="46000"/>
                </a:srgb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26703">
            <a:off x="1164940" y="1025588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70DF94D-F28F-435E-AD56-C40FC99AF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2409782"/>
            <a:ext cx="12221732" cy="444325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11000"/>
                </a:srgb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4F952EE-9AAE-4D81-BF98-35DF71334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942096" y="-2872097"/>
            <a:ext cx="6407535" cy="12151737"/>
          </a:xfrm>
          <a:prstGeom prst="rect">
            <a:avLst/>
          </a:prstGeom>
          <a:gradFill>
            <a:gsLst>
              <a:gs pos="1000">
                <a:srgbClr val="000000">
                  <a:alpha val="33000"/>
                </a:srgb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88B50-7BBD-D8DB-4DB4-918F1A9D15BC}"/>
              </a:ext>
            </a:extLst>
          </p:cNvPr>
          <p:cNvSpPr txBox="1"/>
          <p:nvPr/>
        </p:nvSpPr>
        <p:spPr>
          <a:xfrm>
            <a:off x="3804628" y="2901602"/>
            <a:ext cx="3739421" cy="148751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kern="1200" dirty="0">
                <a:solidFill>
                  <a:srgbClr val="FFFFFF"/>
                </a:solidFill>
                <a:latin typeface="Montserrat" pitchFamily="2" charset="0"/>
                <a:ea typeface="ADLaM Display" panose="02010000000000000000" pitchFamily="2" charset="0"/>
                <a:cs typeface="Poppins" panose="00000500000000000000" pitchFamily="2" charset="0"/>
              </a:rPr>
              <a:t>GROUP -2 MEMBERS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Montserrat" pitchFamily="2" charset="0"/>
                <a:ea typeface="ADLaM Display" panose="02010000000000000000" pitchFamily="2" charset="0"/>
                <a:cs typeface="Poppins" panose="00000500000000000000" pitchFamily="2" charset="0"/>
              </a:rPr>
              <a:t>AAKRITI DHAKAL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FFFFFF"/>
                </a:solidFill>
                <a:latin typeface="Montserrat" pitchFamily="2" charset="0"/>
                <a:ea typeface="ADLaM Display" panose="02010000000000000000" pitchFamily="2" charset="0"/>
                <a:cs typeface="Poppins" panose="00000500000000000000" pitchFamily="2" charset="0"/>
              </a:rPr>
              <a:t>AGNES JESIONOWSKA</a:t>
            </a:r>
          </a:p>
          <a:p>
            <a:pPr marL="342900" indent="-3429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latin typeface="Montserrat" pitchFamily="2" charset="0"/>
                <a:ea typeface="ADLaM Display" panose="02010000000000000000" pitchFamily="2" charset="0"/>
                <a:cs typeface="Poppins" panose="00000500000000000000" pitchFamily="2" charset="0"/>
              </a:rPr>
              <a:t>MANOJ KHANAL</a:t>
            </a:r>
            <a:endParaRPr lang="en-US" sz="2400" kern="1200" dirty="0">
              <a:solidFill>
                <a:srgbClr val="FFFFFF"/>
              </a:solidFill>
              <a:latin typeface="Montserrat" pitchFamily="2" charset="0"/>
              <a:ea typeface="ADLaM Display" panose="020100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3556614-FF3D-BFEC-7E75-183E33B09B35}"/>
              </a:ext>
            </a:extLst>
          </p:cNvPr>
          <p:cNvGrpSpPr/>
          <p:nvPr/>
        </p:nvGrpSpPr>
        <p:grpSpPr>
          <a:xfrm>
            <a:off x="3603156" y="1565661"/>
            <a:ext cx="4149542" cy="843162"/>
            <a:chOff x="3603156" y="1565661"/>
            <a:chExt cx="4149542" cy="84316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883A19A-2B1B-8A6C-2A6E-7BBECE33ACCB}"/>
                </a:ext>
              </a:extLst>
            </p:cNvPr>
            <p:cNvSpPr txBox="1"/>
            <p:nvPr/>
          </p:nvSpPr>
          <p:spPr>
            <a:xfrm>
              <a:off x="3603156" y="1565661"/>
              <a:ext cx="4149542" cy="843162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92500"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</a:pPr>
              <a:r>
                <a:rPr lang="en-US" sz="5400" b="1" kern="1200" dirty="0">
                  <a:solidFill>
                    <a:srgbClr val="FFFF0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THANK YOU!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F9106B0-0F4C-EDBA-A8D5-0547553A58E9}"/>
                </a:ext>
              </a:extLst>
            </p:cNvPr>
            <p:cNvCxnSpPr>
              <a:cxnSpLocks/>
            </p:cNvCxnSpPr>
            <p:nvPr/>
          </p:nvCxnSpPr>
          <p:spPr>
            <a:xfrm>
              <a:off x="3648706" y="2408823"/>
              <a:ext cx="3895344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495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2365</TotalTime>
  <Words>949</Words>
  <Application>Microsoft Office PowerPoint</Application>
  <PresentationFormat>Widescreen</PresentationFormat>
  <Paragraphs>177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ADLaM Display</vt:lpstr>
      <vt:lpstr>Aptos</vt:lpstr>
      <vt:lpstr>Aptos Display</vt:lpstr>
      <vt:lpstr>Arial</vt:lpstr>
      <vt:lpstr>Calibri</vt:lpstr>
      <vt:lpstr>Georgia</vt:lpstr>
      <vt:lpstr>Montserrat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Khanal, Manoj</dc:creator>
  <cp:lastModifiedBy>Khanal, Manoj</cp:lastModifiedBy>
  <cp:revision>77</cp:revision>
  <dcterms:created xsi:type="dcterms:W3CDTF">2025-09-14T22:05:56Z</dcterms:created>
  <dcterms:modified xsi:type="dcterms:W3CDTF">2026-04-26T14:36:27Z</dcterms:modified>
</cp:coreProperties>
</file>